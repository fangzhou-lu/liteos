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各位好，今天介绍我们做了大半年的 specfs-port 项目。它是一个 Claude Code 插件，作用是把 Linux 内核的文件系统模块基于 SYSSPEC 方法论搬到 OpenHarmony LiteOS-A，整个流程由人工在环、分层防御、跨阶段 DAG 三道机制串起来，目前 v0.5.6 已经在 exFAT 上跑通九个 stage。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先说为什么要做这件事。直觉上文件系统移植无非就是把代码搬过来重新编译，但真实代价完全不在编译。Linux 文件系统沉淀了十几年的 Linux 特有假设，page cache、buffer head、RCU、kmem cache、bio、dcache 这一整套，移到 LiteOS-A 之后 90% 不能用。逐行翻译几乎一定得到一个能编译、会泄漏、行为微妙错乱的产物。我们曾经亲历过七类编译器抓不到的隐性 bug，包括 libsec 没换、Mux 和 Spin 误用、错误码符号、g_fsVops 全 NULL 触发 umount 时空指针。所以问题不是缺一个翻译器，而是缺一种切割方式。我们选择的切割方式，是先用 spec 把"做什么"从"怎么做"里剥出来，再围绕 LiteOS-A 原语落实施。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接着对比直接用 LLM 生 C 与先经过 spec 隔离这两条路。直接生 C 的麻烦是行为缺陷、风格问题、LLM 幻觉这三类问题全部混在一份 200 行的 diff 里，审 review 的时候认知负担非常大。spec-first 把它切成两步：第一步审 spec，问的是行为契约对不对，前置后置条件 Invariants 完不完整；第二步审 code，问的是这份契约有没有被忠实执行。这就把"做什么"和"怎么做"两类不同性质的问题分到了两关，每关一份 diff 一个聚焦点，认知负担被切掉一半。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这是第一个挑战：语义鸿沟。表里列了十几条 Linux 到 LiteOS-A 的核心映射。前面七条是有对应的，比如 kmalloc 换 LOS_MemAlloc，mutex_lock 换 LOS_MuxLock，super_block 换 Mount，inode 加 dentry 合成一个 Vnode 之类。但红色这条要特别小心：strncpy memcpy 必须换 libsec 的 _s 变体，这是华为安全编码硬约束；另外 los_disk_read 和 los_part_read 是两个不同的索引命名空间，混用会触发 mutex lock failed。最下面这一栏是 LiteOS-A 完全没有对应物的：RCU、jbd2、fscrypt、dcache、NLS，这些第一版必须明确删除，spec 里用 OUT-OF-SCOPE 标注，不能假装在做但实际没做。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第二个挑战是跨阶段依赖。一次只 spec 一个 op 是不够的，因为 lookup 要依赖 mount 提供的 sbi、open 要依赖 lookup 提供的 vnode 解析、read 要依赖 open 拿到的 file 句柄。我们用一个 DAG 来表达这个依赖：mount 是根节点，挂在它下面的有 lookup readdir open_close 三个子，再下面是 getattr read mkdir 之类。每个节点除了 spec 和 code，还携带 invariants 和 exports，并且通过 depends_on 把祖先链记录下来。三条 DAG 属性这一栏要强调：拓扑序生成意味着祖先 code 全 approved 才允许开始本 stage 的 spec；invariant 自动继承靠 collect_invariants 函数沿 depends_on 递归回溯;dirty 传播是说祖先 spec 改了之后后代会自动 dirty，需要重新审。最下方的 common.header 自动同步是配套机制：code 一旦 approved，server 会自动从 fs 源文件抽 public exports 追加到 common.header 上，后代 stage 的 prompt 就直接看到。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第三个挑战是 LLM 不可信。即使 spec 写得很严谨，LLM 仍然可能在三处偏离。第一类是函数签名漂移，左边这个例子，spec 已经要求 VfsExfatMount struct Mount 第一参数，LLM 还是按 Linux super_block 的样子出，这种漂移由 LSP 加 SpecEval 兜底。第二类是幻觉 helper，调用了 [RELY] 里没声明的辅助函数，比如这里凭空 exfat_lookup_path_by_name，这一类由 kernel build 阶段 undefined reference 拦下来，SpecEval 也会对比 [RELY] 名单。第三类是风格污染,strcpy memcpy printf 直出,违反华为安全编码,这一类专门给 Step 2.2 风格审计去抓,六个维度判命名 libsec 锁原语 错误路径 布局 复杂度。三类幻觉对应三层防御,各管各的,失败信号不串台。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第四个挑战是 spec 与 code 之间的漂移。即使前三类都防住了,我们还是没法保证生成的 spec 真的指导了 code,也没法保证 code 真的实现了 Linux 原始的功能。这里有三种 drift。A 是 spec 跟 code 内部不一致,论文 §4.5 的 SpecEval 就是干这个的,本项目沿用,失败按 root_cause 分发,要么回 Step 1 重生,要么走 spec_fine。B 是 spec 跟 Linux 语义不等价,这一类传统 SpecEval 看不到,因为 SpecEval 只对比 spec 和 code。我们在 v0.5.6 新加了 Loop C linux_compare 专门检 B。C 是 code 跟 Linux 行为漂移,典型例子是漏了 name-cache 驱逐或漏了 parent mtime 刷新,这一类既靠 linux_compare 也靠 QEMU LTP smoke 跑出来。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进入设计部分。整体看是两个 HITL 闭环加 DAG 持久化。左边是 Loop spec,负责把 Linux 源转成 SYSSPEC 四段 spec,经过 SpecEval 和 spec_fine 兜底,最后由用户 approve。右边是 Loop code,负责把 spec 转成 LiteOS-A C,经过七层防御和最终用户审。两个闭环之间通过 DAG 节点串起来,每个节点维护 spec 层、code 层、invariants 数组、exports 数组、depends_on 列表。接下来五页详细看这些部件。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SYSSPEC 规范结构来自 FAST'26 论文第 4.1 节,四段必备,一段可选。[PROMPT] 是散文段,告诉 codegen 把代码追加到哪里、引用什么头、有什么高层意图;[RELY] 是 c block,只能写真实的 LiteOS-A 类型和辅助函数签名,严禁 Linux 原语和抽象说法;[GUARANTEE] 是函数签名加调用约定注释块,声明返回值含义、副作用、Phase 1 的持锁状态;[SPECIFICATION] 是核心,带 Pre-Condition Post-Condition 分 Case 讨论,以及全局唯一 id 的 Invariant 数组,再加上一个项目级强制的 System Algorithm。右边这个红框是可选的 ## Refine Prompt 段,只在函数路径取锁时触发,触发条件由 P1.5 硬门拦截:Linux 用了 mutex_lock 或 spin_lock,或者草稿 [RELY] 前向声明了 LOS_Mux 或 LOS_Spin。Phase 2 的内容只能讲锁,不能重述 Phase 1 的 case,不能改签名,不能在未触发时留空 placeholder。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Loop spec 总共六步。第一步 spec_gen_start,server 读 Linux TU 加祖先 invariants 拼出 prompt;第二步消歧,有歧义必须先 AskUserQuestion,不许略过;第三步 spec_gen_submit,LLM 输出四段 spec 可能附 Refine Prompt;第四步 SpecEval 自审,检空 case、重复 id、违反覆盖规则;第五步 spec_fine 由 SpecAssistant 精化,硬上限 3 轮,超出强制 HITL;第六步用户终审加 DAG 提交。下面那框五条硬约束尤其要点出:[RELY] 必须给具体 C 声明不能泛指,[GUARANTEE] 上方必须有 Calling convention 注释块,Invariant id 全局唯一,spec_fine 严格 ≤3 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Loop code 总共七步。Step 1 codegen 拼好 prompt 给 LLM 出 C;Step 2 静态检查加内核 build,分 LSP style kernel build 三个子步骤,任一失败回 Step 1,各自独立 retry 预算;Step 3 cmocka 测试生成,每个 Case 一个 testpoint 加每个可测 Invariant 一个 testpoint;Step 4 spec/code audit 是 SpecEval 加异构 Linux 审的合并步骤,findings 按 codegen_drift test_gap spec_under_specified prompt_gap 四类分,按类路由;Step 5 cmocka 主机跑加 QEMU smoke,真的跑;Step 6 用户终审,代码和测试一起审,不可绕过。各 step 失败按 source 标签注入 [Modification suggestions]。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DAG 节点的真实样例。这是 unlink-v1 的 DAG 记录,id stage_name spec 块 code 块 invariants 数组 depends_on 全部进 json,跟着代码一起入版本控制。右边三条 DAG 属性:拓扑序生成、invariant 自动继承、dirty 传播。最下方的 common.header 自动同步是关键工程化机制,code_gen_approve 触发自动 extract collect_exports 再追加到 spec exfat common.header,marker 块单例化,后代 stage 的 prompt 就立刻看到新符号,不用任何手工同步。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spec 覆盖规则。早期版本曾经把 mkdir 模块的 6 个 helper 全部 spec 出来,结果 spec 比 code 多 30%,生产力命题崩了。我们重新收口,只 spec 这四类。第一类是 VFS 回调,挂在 VnodeOps 或 MountOps 表上的公开 API,严格必须 spec。第二类是 Linux 公共头函数,跨模块复用的辅助,严格必须 spec。第三类是窄稳定工具,单一职责 100 行以内的公式或纯计算,推荐 spec 因为 cmocka 覆盖最稳。第四类是不 spec 的:实现编排器、字段布局 helper、内部回滚循环,这些归 commit message 加 cmocka 覆盖。classifier 在 tools specfs_eval collect.py 里自动判,收口后 spec / code 比例落到 1.6 左右。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工具链架构三层。最上是用户层,通过三个 slash command 进入:不带参数的 specfs-port 看 DAG 状态,specfs-port-spec 进 Loop A,specfs-port-code 进 Loop B。中间是 LLM agent 层 由 Claude Code 实例当 agent,自动读 skills 方法论,调 MCP 工具,通过 AskUserQuestion 跟用户交互。最下面是 MCP server 加 prompts。server 提供 30 多个工具,涵盖 session 生命周期、Loop spec Loop code 主路径、分层防御、Loop C 反向优化。prompts 分两类:默认模板默认加载,on-demand fragment 按需 fetch,避免一上来就把所有规则塞进上下文。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分层防御拓扑详表。从最便宜的 LSP 到最贵的 QEMU 逐层 fail-fast。LSP compile retry 4 轮 失败回 Step 1;style audit retry 5 轮,LLM 自判失败也回 Step 1;kernel build retry 3 轮;cmocka 测试生成 retry 3 轮失败走 test_gen_refine;spec/code audit retry 3 轮按四类 finding 分发;cmocka 主机跑 retry 3 轮历史失败回 Step 1 本轮失败回 Step 3.1;QEMU smoke retry 3 轮失败回 Step 1;最后是用户终审,这个不可绕过,approve 才走 DAG 提交。整个拓扑的原则是"小钱拦小错,大钱兜大错"。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v0.5.6 P1.6 Wave 2 新加的 Loop C,反向优化 prompt 模板。要特别强调的方法论:优化对象是 prompt 模板本身,不是当前 stage 的产物。测的是 prompt 引导能力,不是 LLM 修复能力,所以引入了 .first 快照机制保证比对的是首次单次产物,引入了 fast_eval 模式从 session_start 起就拒绝 refine fine inject_diagnostics 这些反馈工具。Step A 比对累积:完成的 stage 经 linux_compare_start 出 JSON,submit 写到 docs prompt_feedback.md 但不动 sess.failures。Step B 反向改 prompt:propose 读累积推荐生成元提示,fresh agent 隔离上下文改写,apply 备份 .bak.&lt;ts&gt; 并写入新版,失效模板缓存让下一轮 spec/code 生成立刻生效。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进入案例。exFAT 是我们的第一个验证目标,已经落地 9 个 stage 共 1600 多行代码。表里逐行展示 spec LOC、code LOC 和比例:mount umount lookup open_close read getattr mkdir create unlink。整体 spec 2114 行 code 1290 行 比例 1.64,比论文 AtomFS 的 1.2 稍高,原因是我们的 spec 多了 Invariants 跨 stage 继承部分、Refine Prompt 二阶段锁状态部分、System Algorithm 项目级强制部分。最右边那块是 QEMU 端到端验证 真的能 mount 真的能 ls cat umount 无 panic。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两层回归。Wave A cmocka 主机跑,49 个 testpoint 分布在 5 个 helper TU,关键设计是 mock_disk 用 RAM 镜像可注入 EIO、6 KB 手工 exFAT 镜像不依赖系统 mkfs.exfat、mock_part_write 只改 RAM 不回写。整个 wave 跑 2 秒,远端 ssh make,可以当 PR gate 用。Wave B QEMU LTP smoke 在 QEMU virt 上挂真实 exFAT 分区跑 LTP 六个 case,关键设计是 OHOS clang 动态链接不能 static、4 分区 smallmmc.img、命名 fifo 驱动 stdin、grep panic 立刻 exit 2。两层加起来 run_all.sh 出口码 0 是过 1 是测试失败 2 是 panic 或挂起。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 Loop C 在 unlink stage 跑一遍的端到端记录。第一步固定 baseline:把 v0.5.6 之前生成的 unlink spec 和 code 手动拷成 .first 当评测基线。第二步主会话调 linux_compare 出 JSON,得到 5 个 spec gap 加 3 个 code gap 其中 4 个高严重,写到 docs exfat_prompt_feedback.md。第三步并行调 prompt_optimize_propose 拿到 linux_to_spec 和 codegen 两个目标 prompt 的元提示。第四步派两个 fresh executor agent 用 opus 并行改写,隔离上下文不读其他 prompts 不读 docs。第五步 dry_run 看 sanity warning,接受 50.6% 和 66.1% 体量增长,apply 写入,备份就位。主要增量两项:[SCOPE GUARDRAILS] 强制枚举三组 inode 突变,LITEOS_DIGEST 加 tombstone 前 VfsHashRemove 加 parent mtime 刷新 加 Phase 2 sample。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评估三个角度。第一是生产力,9 stage 加起来 spec / code 比例 1.64,论文基线 1.2,本项目稍高原因前面讲过,但命题方向成立。第二是测试,Wave A 49 个 cmocka testpoint Wave B 6 个 LTP case,加上 plugin server 自身 194 个测试全过,覆盖 prompt assembly MCP .first 快照 fast_eval 模式各方向。第三是 Loop C 反馈,unlink baseline 跑出 8 个 gap 累积 6 条推荐,apply 后两个 prompt 模板各自 +50% 和 +66% 体量,主要 gap 类是 name-cache 驱逐缺失、parent mtime 刷新缺失、post-tombstone chain reset 缺失。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总结四句话。一句:SYSSPEC 四段加 Refine Prompt 把"做什么"和"怎么做"剥开来表达。二句:Loop spec 加 Loop code 双闭环加七层防御,按 cost fail-fast 约束 LLM 走对。三句:DAG 跨阶段 invariant 继承加 common.header 自动同步,不重复造轮子。四句:Loop C 是 v0.5.6 新增,用 Linux 比对反向优化 prompt 本身,把"提示工程"从零散调参变成系统化机制。Roadmap 短期是 rmdir rename write 路径补全,中期跑第二个 FS 验证迁移性比如 ext2 或 erofs,长期是语义近似去重、fast_eval batch harness、DAG dirty propagation 自动化。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讲完了,谢谢大家。欢迎提问。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00850"/>
              <a:ext cx="12192000" cy="571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524000" y="2095500"/>
            <a:ext cx="9144000" cy="2676525"/>
            <a:chOff x="1524000" y="2095500"/>
            <a:chExt cx="9144000" cy="2676525"/>
          </a:xfrm>
        </p:grpSpPr>
        <p:sp>
          <p:nvSpPr>
            <p:cNvPr id="6" name="Line 6"/>
            <p:cNvSpPr/>
            <p:nvPr/>
          </p:nvSpPr>
          <p:spPr>
            <a:xfrm>
              <a:off x="1524000" y="20955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524000" y="47625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0" y="2362200"/>
              <a:ext cx="571500" cy="3810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466850" y="2466975"/>
            <a:ext cx="8203311" cy="1581150"/>
            <a:chOff x="1466850" y="2466975"/>
            <a:chExt cx="8203311" cy="1581150"/>
          </a:xfrm>
        </p:grpSpPr>
        <p:sp>
          <p:nvSpPr>
            <p:cNvPr id="10" name="TextBox 10"/>
            <p:cNvSpPr txBox="1"/>
            <p:nvPr/>
          </p:nvSpPr>
          <p:spPr>
            <a:xfrm>
              <a:off x="1466850" y="2466975"/>
              <a:ext cx="4289322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specfs-port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1140" y="3329940"/>
              <a:ext cx="81690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基于 SYSSPEC 的 Linux → LiteOS-A 文件系统 spec-first 移植工作流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4950" y="3743325"/>
              <a:ext cx="6632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HITL 闸门 · 七层防御 · DAG 多阶段继承 · Loop C 反向 prompt 优化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06855" y="5093018"/>
            <a:ext cx="4405122" cy="831532"/>
            <a:chOff x="1506855" y="5093018"/>
            <a:chExt cx="4405122" cy="831532"/>
          </a:xfrm>
        </p:grpSpPr>
        <p:sp>
          <p:nvSpPr>
            <p:cNvPr id="14" name="TextBox 14"/>
            <p:cNvSpPr txBox="1"/>
            <p:nvPr/>
          </p:nvSpPr>
          <p:spPr>
            <a:xfrm>
              <a:off x="1506855" y="509301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项目内部技术介绍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8760" y="5394960"/>
              <a:ext cx="44032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v0.5.6 · feature/spec-port · gitee + github 双远端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08760" y="56807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2026-05-11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13522" y="6483191"/>
            <a:ext cx="9164956" cy="167640"/>
            <a:chOff x="1513522" y="6483191"/>
            <a:chExt cx="9164956" cy="167640"/>
          </a:xfrm>
        </p:grpSpPr>
        <p:sp>
          <p:nvSpPr>
            <p:cNvPr id="18" name="TextBox 18"/>
            <p:cNvSpPr txBox="1"/>
            <p:nvPr/>
          </p:nvSpPr>
          <p:spPr>
            <a:xfrm>
              <a:off x="1513522" y="6483191"/>
              <a:ext cx="22259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specfs-port · OpenHarmony LiteOS-A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840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01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572886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FS 移植成本不在编译，在</a:t>
              </a:r>
              <a:r>
                <a:rPr lang="zh-CN" sz="240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假设错配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88548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Linux FS 沉淀了十几年 Linux 假设。逐行搬到 LiteOS-A 几乎一定得到"能编译、会泄漏、行为微妙错乱"的产物。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809750"/>
            <a:ext cx="3524250" cy="3333750"/>
            <a:chOff x="571500" y="1809750"/>
            <a:chExt cx="3524250" cy="333375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3524250" cy="333375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809750"/>
              <a:ext cx="3524250" cy="381000"/>
            </a:xfrm>
            <a:prstGeom prst="roundRect">
              <a:avLst>
                <a:gd name="adj" fmla="val 30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057400"/>
              <a:ext cx="3524250" cy="1333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1050" y="1914525"/>
              <a:ext cx="13377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① Linux 假设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4860" y="240411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struct page · buffer_head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860" y="267081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kmem_cache · slab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860" y="2937510"/>
              <a:ext cx="11521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RCU · seqlock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860" y="3204210"/>
              <a:ext cx="13887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bio · submit_bio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860" y="347091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dcache · inode hash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860" y="3737610"/>
              <a:ext cx="17392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jbd2 · fscrypt · NLS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41157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kmalloc / mutex_lock 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4325302"/>
              <a:ext cx="16522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spin_lock / printk ...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4744402"/>
              <a:ext cx="22732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~3000 个文件 · 上百万 LOC 沉淀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91000" y="3172778"/>
            <a:ext cx="857250" cy="370522"/>
            <a:chOff x="4191000" y="3172778"/>
            <a:chExt cx="857250" cy="370522"/>
          </a:xfrm>
        </p:grpSpPr>
        <p:sp>
          <p:nvSpPr>
            <p:cNvPr id="25" name="Freeform 25"/>
            <p:cNvSpPr/>
            <p:nvPr/>
          </p:nvSpPr>
          <p:spPr>
            <a:xfrm>
              <a:off x="4191000" y="347662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C53030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4933950" y="34099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5303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64760" y="3172778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直接搬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43500" y="1809750"/>
            <a:ext cx="3524250" cy="3333750"/>
            <a:chOff x="5143500" y="1809750"/>
            <a:chExt cx="3524250" cy="3333750"/>
          </a:xfrm>
        </p:grpSpPr>
        <p:sp>
          <p:nvSpPr>
            <p:cNvPr id="29" name="Rectangle 29"/>
            <p:cNvSpPr/>
            <p:nvPr/>
          </p:nvSpPr>
          <p:spPr>
            <a:xfrm>
              <a:off x="5143500" y="1809750"/>
              <a:ext cx="3524250" cy="333375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143500" y="1809750"/>
              <a:ext cx="3524250" cy="381000"/>
            </a:xfrm>
            <a:prstGeom prst="roundRect">
              <a:avLst>
                <a:gd name="adj" fmla="val 30000"/>
              </a:avLst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43500" y="2057400"/>
              <a:ext cx="3524250" cy="13335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53050" y="19145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② 编译过 ≠ 跑得对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56860" y="2404110"/>
              <a:ext cx="21160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libsec _s 没用 → 安全 cr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56860" y="2670810"/>
              <a:ext cx="22738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Mux vs Spin 误用 → 锁睡眠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56860" y="2937510"/>
              <a:ext cx="28521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los_disk_read vs los_part_read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56860" y="3204210"/>
              <a:ext cx="27557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错误码符号 (+errno vs -errno)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56860" y="3470910"/>
              <a:ext cx="29222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g_</a:t>
              </a:r>
              <a:r>
                <a:rPr lang="zh-CN" sz="1200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fsVops</a:t>
              </a:r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 全 NULL → umount panic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56860" y="3737610"/>
              <a:ext cx="24490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Linux GPL 头 → BSD-3 树污染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56860" y="4099560"/>
              <a:ext cx="18531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FSMAP_ENTRY 漏注册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58765" y="47444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编译器抓不到的 7+ 类隐性 bug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763000" y="1809750"/>
            <a:ext cx="2857500" cy="3333750"/>
            <a:chOff x="8763000" y="1809750"/>
            <a:chExt cx="2857500" cy="3333750"/>
          </a:xfrm>
        </p:grpSpPr>
        <p:sp>
          <p:nvSpPr>
            <p:cNvPr id="42" name="Rectangle 42"/>
            <p:cNvSpPr/>
            <p:nvPr/>
          </p:nvSpPr>
          <p:spPr>
            <a:xfrm>
              <a:off x="8763000" y="1809750"/>
              <a:ext cx="2857500" cy="33337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763000" y="1809750"/>
              <a:ext cx="2857500" cy="381000"/>
            </a:xfrm>
            <a:prstGeom prst="roundRect">
              <a:avLst>
                <a:gd name="adj" fmla="val 30000"/>
              </a:avLst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763000" y="2057400"/>
              <a:ext cx="2857500" cy="13335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72550" y="1914525"/>
              <a:ext cx="174031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③ spec-first 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76360" y="2404110"/>
              <a:ext cx="12748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先剥 Linux 味道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76360" y="2670810"/>
              <a:ext cx="1555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写"做什么" (spec)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76360" y="3032760"/>
              <a:ext cx="17743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再围绕 LiteOS-A 原语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76360" y="3299460"/>
              <a:ext cx="1555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落"怎么做" (code)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76360" y="3661410"/>
              <a:ext cx="15302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审 spec / 审 code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76360" y="39281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分两步走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78265" y="4744402"/>
              <a:ext cx="900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认知负担 ÷ 2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54" name="Line 54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1022" y="6521291"/>
              <a:ext cx="6475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Motivation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02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28" grpId="0"/>
      <p:bldP spid="41" grpId="0"/>
      <p:bldP spid="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390704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一次性 LLM 生 C ≠ 可信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84867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把"做什么"和"怎么做"耦合在一次生成里 — review 时两类问题混在 diff 中；隔离 spec 把它们切成两步审。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2450" y="1743075"/>
            <a:ext cx="3352800" cy="3971925"/>
            <a:chOff x="552450" y="1743075"/>
            <a:chExt cx="3352800" cy="3971925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1743075"/>
              <a:ext cx="10157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A. 直生 C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095500"/>
              <a:ext cx="3333750" cy="361950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9050">
              <a:solidFill>
                <a:srgbClr val="C5303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2955" y="2311718"/>
              <a:ext cx="1235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单次 prompt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2647950"/>
              <a:ext cx="2876550" cy="552450"/>
            </a:xfrm>
            <a:prstGeom prst="roundRect">
              <a:avLst>
                <a:gd name="adj" fmla="val 10345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0118" y="2790349"/>
              <a:ext cx="1861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"把这段 Linux exfat_mount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0118" y="2980849"/>
              <a:ext cx="1192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移植到 LiteOS-A"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2955" y="34547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860" y="3737610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200 行 C 代码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2955" y="41405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审查时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860" y="4423410"/>
              <a:ext cx="15815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这是行为缺陷吗？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4860" y="4690110"/>
              <a:ext cx="14062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还是风格问题？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860" y="4956810"/>
              <a:ext cx="14851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还是 LLM 幻觉？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5334952"/>
              <a:ext cx="15644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三类混在一个 diff 里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267200" y="1743075"/>
            <a:ext cx="7353300" cy="3971925"/>
            <a:chOff x="4267200" y="1743075"/>
            <a:chExt cx="7353300" cy="3971925"/>
          </a:xfrm>
        </p:grpSpPr>
        <p:sp>
          <p:nvSpPr>
            <p:cNvPr id="25" name="TextBox 25"/>
            <p:cNvSpPr txBox="1"/>
            <p:nvPr/>
          </p:nvSpPr>
          <p:spPr>
            <a:xfrm>
              <a:off x="4267200" y="1743075"/>
              <a:ext cx="3442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B. spec-first（论文 + 本项目）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86250" y="2095500"/>
              <a:ext cx="733425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476750" y="2362200"/>
              <a:ext cx="2095500" cy="952500"/>
              <a:chOff x="4476750" y="2362200"/>
              <a:chExt cx="2095500" cy="952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476750" y="2362200"/>
                <a:ext cx="2095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026020" y="2502218"/>
                <a:ext cx="9969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365D"/>
                    </a:solidFill>
                    <a:latin typeface="Arial"/>
                    <a:ea typeface="Microsoft YaHei"/>
                    <a:cs typeface="Arial"/>
                  </a:rPr>
                  <a:t>① Linux 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85563" y="2828449"/>
                <a:ext cx="12778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fs/exfat/super.c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871323" y="301894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exfat_mount(...)</a:t>
                </a:r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6619875" y="283845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6858000" y="2781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000875" y="2362200"/>
              <a:ext cx="2095500" cy="952500"/>
              <a:chOff x="7000875" y="2362200"/>
              <a:chExt cx="2095500" cy="952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000875" y="2362200"/>
                <a:ext cx="2095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286187" y="2502218"/>
                <a:ext cx="152487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365D"/>
                    </a:solidFill>
                    <a:latin typeface="Arial"/>
                    <a:ea typeface="Microsoft YaHei"/>
                    <a:cs typeface="Arial"/>
                  </a:rPr>
                  <a:t>② SYSSPEC spec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438168" y="2828449"/>
                <a:ext cx="12209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[PROMPT] [RELY]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349169" y="3018949"/>
                <a:ext cx="13989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[GUARANTEE] [SPEC]</a:t>
                </a:r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9144000" y="283845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9382125" y="2781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525000" y="2362200"/>
              <a:ext cx="1905000" cy="952500"/>
              <a:chOff x="9525000" y="2362200"/>
              <a:chExt cx="1905000" cy="9525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9525000" y="2362200"/>
                <a:ext cx="1905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834102" y="2502218"/>
                <a:ext cx="12867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365D"/>
                    </a:solidFill>
                    <a:latin typeface="Arial"/>
                    <a:ea typeface="Microsoft YaHei"/>
                    <a:cs typeface="Arial"/>
                  </a:rPr>
                  <a:t>③ LiteOS-A 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941802" y="2828449"/>
                <a:ext cx="10713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VfsExfatMount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119801" y="3018949"/>
                <a:ext cx="7153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+ 七层防御</a:t>
                </a:r>
              </a:p>
            </p:txBody>
          </p:sp>
        </p:grpSp>
        <p:sp>
          <p:nvSpPr>
            <p:cNvPr id="46" name="Line 46"/>
            <p:cNvSpPr/>
            <p:nvPr/>
          </p:nvSpPr>
          <p:spPr>
            <a:xfrm>
              <a:off x="4476750" y="36195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  <a:prstDash val="dash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61510" y="3870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审查时分两关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61510" y="4175760"/>
              <a:ext cx="52006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关 1 · spec：行为契约是否对？Pre/Post-Condition / Invariants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61510" y="4442460"/>
              <a:ext cx="52619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关 2 · code：实现是否忠实执行了 spec？libsec / 锁 / errno 风格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61510" y="4899660"/>
              <a:ext cx="2634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两关问题不串台 — 认知负担分摊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63415" y="5334952"/>
              <a:ext cx="54936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论文 §4.1 三段式 + 我们的 [GUARANTEE] 调用约定注释 + Refine Prompt 锁状态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53" name="Line 53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1022" y="6521291"/>
              <a:ext cx="6475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Motivation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03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66489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Challenge I · 语义鸿沟 (Semantic Gap)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9713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Linux 假设 → LiteOS-A 原语：14 类映射要硬翻，其中 5 类在 LiteOS-A 没有对应 (RCU / jbd2 / fscrypt / dcache / NLS)。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714500"/>
            <a:ext cx="5286375" cy="376238"/>
            <a:chOff x="571500" y="1714500"/>
            <a:chExt cx="5286375" cy="376238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5286375" cy="342900"/>
            </a:xfrm>
            <a:prstGeom prst="roundRect">
              <a:avLst>
                <a:gd name="adj" fmla="val 16667"/>
              </a:avLst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2955" y="1816418"/>
              <a:ext cx="10280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Linux 假设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34125" y="1714500"/>
            <a:ext cx="5286375" cy="376238"/>
            <a:chOff x="6334125" y="1714500"/>
            <a:chExt cx="5286375" cy="376238"/>
          </a:xfrm>
        </p:grpSpPr>
        <p:sp>
          <p:nvSpPr>
            <p:cNvPr id="14" name="Rectangle 14"/>
            <p:cNvSpPr/>
            <p:nvPr/>
          </p:nvSpPr>
          <p:spPr>
            <a:xfrm>
              <a:off x="6334125" y="1714500"/>
              <a:ext cx="5286375" cy="342900"/>
            </a:xfrm>
            <a:prstGeom prst="roundRect">
              <a:avLst>
                <a:gd name="adj" fmla="val 16667"/>
              </a:avLst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5580" y="1816418"/>
              <a:ext cx="20320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LiteOS-A 等价或缺失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2190750"/>
            <a:ext cx="11049000" cy="400050"/>
            <a:chOff x="571500" y="2190750"/>
            <a:chExt cx="11049000" cy="400050"/>
          </a:xfrm>
        </p:grpSpPr>
        <p:sp>
          <p:nvSpPr>
            <p:cNvPr id="17" name="Rectangle 17"/>
            <p:cNvSpPr/>
            <p:nvPr/>
          </p:nvSpPr>
          <p:spPr>
            <a:xfrm>
              <a:off x="571500" y="2190750"/>
              <a:ext cx="5286375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5812" y="2336006"/>
              <a:ext cx="22302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kmalloc / kmem_cache_alloc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334125" y="2190750"/>
              <a:ext cx="5286375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8438" y="2336006"/>
              <a:ext cx="28135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LOS_MemAlloc(m_aucSysMem0, sz)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2590800"/>
            <a:ext cx="11049000" cy="400050"/>
            <a:chOff x="571500" y="2590800"/>
            <a:chExt cx="11049000" cy="400050"/>
          </a:xfrm>
        </p:grpSpPr>
        <p:sp>
          <p:nvSpPr>
            <p:cNvPr id="22" name="Rectangle 22"/>
            <p:cNvSpPr/>
            <p:nvPr/>
          </p:nvSpPr>
          <p:spPr>
            <a:xfrm>
              <a:off x="571500" y="2590800"/>
              <a:ext cx="5286375" cy="40005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5812" y="2736056"/>
              <a:ext cx="18441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mutex_lock / spin_lock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34125" y="2590800"/>
              <a:ext cx="5286375" cy="40005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48438" y="2736056"/>
              <a:ext cx="23535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LOS_MuxLock / LOS_SpinLock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2990850"/>
            <a:ext cx="11049000" cy="400050"/>
            <a:chOff x="571500" y="2990850"/>
            <a:chExt cx="11049000" cy="400050"/>
          </a:xfrm>
        </p:grpSpPr>
        <p:sp>
          <p:nvSpPr>
            <p:cNvPr id="27" name="Rectangle 27"/>
            <p:cNvSpPr/>
            <p:nvPr/>
          </p:nvSpPr>
          <p:spPr>
            <a:xfrm>
              <a:off x="571500" y="2990850"/>
              <a:ext cx="5286375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5812" y="3136106"/>
              <a:ext cx="20331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struct super_block + ops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34125" y="2990850"/>
              <a:ext cx="5286375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8438" y="3136106"/>
              <a:ext cx="2082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struct Mount + MountOps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390900"/>
            <a:ext cx="11049000" cy="400050"/>
            <a:chOff x="571500" y="3390900"/>
            <a:chExt cx="11049000" cy="400050"/>
          </a:xfrm>
        </p:grpSpPr>
        <p:sp>
          <p:nvSpPr>
            <p:cNvPr id="32" name="Rectangle 32"/>
            <p:cNvSpPr/>
            <p:nvPr/>
          </p:nvSpPr>
          <p:spPr>
            <a:xfrm>
              <a:off x="571500" y="3390900"/>
              <a:ext cx="5286375" cy="40005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5812" y="3536156"/>
              <a:ext cx="1762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struct inode + dentry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34125" y="3390900"/>
              <a:ext cx="5286375" cy="40005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48438" y="3536156"/>
              <a:ext cx="33804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struct Vnode (合一; path_cache 维护名字)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790950"/>
            <a:ext cx="11049000" cy="400050"/>
            <a:chOff x="571500" y="3790950"/>
            <a:chExt cx="11049000" cy="400050"/>
          </a:xfrm>
        </p:grpSpPr>
        <p:sp>
          <p:nvSpPr>
            <p:cNvPr id="37" name="Rectangle 37"/>
            <p:cNvSpPr/>
            <p:nvPr/>
          </p:nvSpPr>
          <p:spPr>
            <a:xfrm>
              <a:off x="571500" y="3790950"/>
              <a:ext cx="5286375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5812" y="3936206"/>
              <a:ext cx="1523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submit_bio / bread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34125" y="3790950"/>
              <a:ext cx="5286375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48438" y="3936206"/>
              <a:ext cx="3659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 xml:space="preserve">los_disk_read / </a:t>
              </a:r>
              <a:r>
                <a:rPr lang="zh-CN" sz="1125" b="1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los_part_read</a:t>
              </a:r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 xml:space="preserve"> (注意命名空间)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191000"/>
            <a:ext cx="11049000" cy="400050"/>
            <a:chOff x="571500" y="4191000"/>
            <a:chExt cx="11049000" cy="400050"/>
          </a:xfrm>
        </p:grpSpPr>
        <p:sp>
          <p:nvSpPr>
            <p:cNvPr id="42" name="Rectangle 42"/>
            <p:cNvSpPr/>
            <p:nvPr/>
          </p:nvSpPr>
          <p:spPr>
            <a:xfrm>
              <a:off x="571500" y="4191000"/>
              <a:ext cx="5286375" cy="40005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5812" y="4336256"/>
              <a:ext cx="2238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strncpy / memcpy / sprintf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34125" y="4191000"/>
              <a:ext cx="5286375" cy="40005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48438" y="4336256"/>
              <a:ext cx="28053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libsec _s 变体</a:t>
              </a:r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 xml:space="preserve"> (华为安全编码硬约束)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4591050"/>
            <a:ext cx="11049000" cy="400050"/>
            <a:chOff x="571500" y="4591050"/>
            <a:chExt cx="11049000" cy="400050"/>
          </a:xfrm>
        </p:grpSpPr>
        <p:sp>
          <p:nvSpPr>
            <p:cNvPr id="47" name="Rectangle 47"/>
            <p:cNvSpPr/>
            <p:nvPr/>
          </p:nvSpPr>
          <p:spPr>
            <a:xfrm>
              <a:off x="571500" y="4591050"/>
              <a:ext cx="5286375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5812" y="4736306"/>
              <a:ext cx="1260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printk / pr_err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334125" y="4591050"/>
              <a:ext cx="5286375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48438" y="4736306"/>
              <a:ext cx="2534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PRINT_ERR / PRINT_INFO / PRINTK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4991100"/>
            <a:ext cx="11049000" cy="823912"/>
            <a:chOff x="571500" y="4991100"/>
            <a:chExt cx="11049000" cy="823912"/>
          </a:xfrm>
        </p:grpSpPr>
        <p:sp>
          <p:nvSpPr>
            <p:cNvPr id="52" name="Rectangle 52"/>
            <p:cNvSpPr/>
            <p:nvPr/>
          </p:nvSpPr>
          <p:spPr>
            <a:xfrm>
              <a:off x="571500" y="4991100"/>
              <a:ext cx="5286375" cy="8001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5812" y="513635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RCU · jbd2 · fscrypt · dcache · NLS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6765" y="5392102"/>
              <a:ext cx="32164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无 page cache · 无 ext attr · 无路径名 hash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6765" y="56016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无字符编码表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334125" y="4991100"/>
              <a:ext cx="5286375" cy="8001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48438" y="51363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没有对应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49390" y="5392102"/>
              <a:ext cx="3270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v1 默认删除 (spec 用 # OUT-OF-SCOPE 标注，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49390" y="560165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不能假装在做但不做)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61" name="Line 61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1022" y="652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Challenges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04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26" grpId="0"/>
      <p:bldP spid="31" grpId="0"/>
      <p:bldP spid="36" grpId="0"/>
      <p:bldP spid="41" grpId="0"/>
      <p:bldP spid="46" grpId="0"/>
      <p:bldP spid="51" grpId="0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91700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Challenge II · 跨阶段依赖 (Cross-stage Dependency)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92141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一次只 spec 一个 op 不够：DAG 决定可移植顺序 + 祖先 invariant 自动继承到后代，任一祖先 spec 变 → 后代 dirty。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1714500"/>
            <a:ext cx="6667500" cy="4476750"/>
            <a:chOff x="571500" y="1714500"/>
            <a:chExt cx="6667500" cy="447675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6667500" cy="4476750"/>
            </a:xfrm>
            <a:prstGeom prst="roundRect">
              <a:avLst>
                <a:gd name="adj" fmla="val 2553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4855" y="1854518"/>
              <a:ext cx="2497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exFAT 已落地 9 stage DAG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3143250" y="2286000"/>
              <a:ext cx="1524000" cy="571500"/>
              <a:chOff x="3143250" y="2286000"/>
              <a:chExt cx="1524000" cy="571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143250" y="228600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582742" y="2387918"/>
                <a:ext cx="6450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mount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289173" y="2646045"/>
                <a:ext cx="12321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CBD5E0"/>
                    </a:solidFill>
                    <a:latin typeface="Arial"/>
                    <a:ea typeface="Microsoft YaHei"/>
                    <a:cs typeface="Arial"/>
                  </a:rPr>
                  <a:t>root · 7 invariants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1905000" y="2857500"/>
              <a:ext cx="1619250" cy="476250"/>
            </a:xfrm>
            <a:custGeom>
              <a:avLst/>
              <a:gdLst/>
              <a:ahLst/>
              <a:cxnLst/>
              <a:rect l="l" t="t" r="r" b="b"/>
              <a:pathLst>
                <a:path w="1619250" h="476250">
                  <a:moveTo>
                    <a:pt x="161925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905250" y="28575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286250" y="2857500"/>
              <a:ext cx="1619250" cy="476250"/>
            </a:xfrm>
            <a:custGeom>
              <a:avLst/>
              <a:gdLst/>
              <a:ahLst/>
              <a:cxnLst/>
              <a:rect l="l" t="t" r="r" b="b"/>
              <a:pathLst>
                <a:path w="1619250" h="476250">
                  <a:moveTo>
                    <a:pt x="0" y="0"/>
                  </a:moveTo>
                  <a:lnTo>
                    <a:pt x="1619250" y="47625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143000" y="3333750"/>
              <a:ext cx="1524000" cy="571500"/>
              <a:chOff x="1143000" y="3333750"/>
              <a:chExt cx="1524000" cy="571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143000" y="333375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572141" y="3435668"/>
                <a:ext cx="6657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lookup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532096" y="3693795"/>
                <a:ext cx="7458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CBD5E0"/>
                    </a:solidFill>
                    <a:latin typeface="Arial"/>
                    <a:ea typeface="Microsoft YaHei"/>
                    <a:cs typeface="Arial"/>
                  </a:rPr>
                  <a:t>+ mount inv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143250" y="3333750"/>
              <a:ext cx="1524000" cy="571500"/>
              <a:chOff x="3143250" y="3333750"/>
              <a:chExt cx="1524000" cy="571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143250" y="333375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5458" y="3435668"/>
                <a:ext cx="77958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readdir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32346" y="3693795"/>
                <a:ext cx="7458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CBD5E0"/>
                    </a:solidFill>
                    <a:latin typeface="Arial"/>
                    <a:ea typeface="Microsoft YaHei"/>
                    <a:cs typeface="Arial"/>
                  </a:rPr>
                  <a:t>+ mount inv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143500" y="3333750"/>
              <a:ext cx="1524000" cy="571500"/>
              <a:chOff x="5143500" y="3333750"/>
              <a:chExt cx="1524000" cy="5715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143500" y="333375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344912" y="3435668"/>
                <a:ext cx="112117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open_close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532596" y="3693795"/>
                <a:ext cx="7458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CBD5E0"/>
                    </a:solidFill>
                    <a:latin typeface="Arial"/>
                    <a:ea typeface="Microsoft YaHei"/>
                    <a:cs typeface="Arial"/>
                  </a:rPr>
                  <a:t>+ mount inv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1905000" y="3905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905500" y="3905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286000" y="3905250"/>
              <a:ext cx="1333500" cy="381000"/>
            </a:xfrm>
            <a:custGeom>
              <a:avLst/>
              <a:gdLst/>
              <a:ahLst/>
              <a:cxnLst/>
              <a:rect l="l" t="t" r="r" b="b"/>
              <a:pathLst>
                <a:path w="1333500" h="381000">
                  <a:moveTo>
                    <a:pt x="0" y="0"/>
                  </a:moveTo>
                  <a:lnTo>
                    <a:pt x="1333500" y="38100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191000" y="3905250"/>
              <a:ext cx="1333500" cy="381000"/>
            </a:xfrm>
            <a:custGeom>
              <a:avLst/>
              <a:gdLst/>
              <a:ahLst/>
              <a:cxnLst/>
              <a:rect l="l" t="t" r="r" b="b"/>
              <a:pathLst>
                <a:path w="1333500" h="381000">
                  <a:moveTo>
                    <a:pt x="133350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143000" y="4286250"/>
              <a:ext cx="1524000" cy="476250"/>
              <a:chOff x="1143000" y="4286250"/>
              <a:chExt cx="1524000" cy="476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1143000" y="4286250"/>
                <a:ext cx="15240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535516" y="4461510"/>
                <a:ext cx="738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getattr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143250" y="4286250"/>
              <a:ext cx="1524000" cy="476250"/>
              <a:chOff x="3143250" y="4286250"/>
              <a:chExt cx="1524000" cy="4762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143250" y="4286250"/>
                <a:ext cx="15240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687585" y="4461510"/>
                <a:ext cx="4353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read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143500" y="4286250"/>
              <a:ext cx="1524000" cy="476250"/>
              <a:chOff x="5143500" y="4286250"/>
              <a:chExt cx="1524000" cy="4762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143500" y="4286250"/>
                <a:ext cx="15240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641829" y="4461510"/>
                <a:ext cx="52734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mkdir</a:t>
                </a: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1905000" y="4762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905250" y="4762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5905500" y="4762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143000" y="5143500"/>
              <a:ext cx="1524000" cy="476250"/>
              <a:chOff x="1143000" y="5143500"/>
              <a:chExt cx="1524000" cy="4762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1143000" y="5143500"/>
                <a:ext cx="15240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586122" y="5318760"/>
                <a:ext cx="6377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create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143250" y="5143500"/>
              <a:ext cx="1524000" cy="476250"/>
              <a:chOff x="3143250" y="5143500"/>
              <a:chExt cx="1524000" cy="4762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3143250" y="5143500"/>
                <a:ext cx="15240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567970" y="5318760"/>
                <a:ext cx="6745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umount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143500" y="5143500"/>
              <a:ext cx="1524000" cy="476250"/>
              <a:chOff x="5143500" y="5143500"/>
              <a:chExt cx="1524000" cy="4762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5143500" y="5143500"/>
                <a:ext cx="15240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C5303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5333590" y="5318760"/>
                <a:ext cx="114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unlink (new)</a:t>
                </a:r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749618" y="5895499"/>
              <a:ext cx="2466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深蓝=root · 青绿=已通过 · 砖红=新加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429500" y="1714500"/>
            <a:ext cx="4191000" cy="4476750"/>
            <a:chOff x="7429500" y="1714500"/>
            <a:chExt cx="4191000" cy="4476750"/>
          </a:xfrm>
        </p:grpSpPr>
        <p:sp>
          <p:nvSpPr>
            <p:cNvPr id="59" name="Rectangle 59"/>
            <p:cNvSpPr/>
            <p:nvPr/>
          </p:nvSpPr>
          <p:spPr>
            <a:xfrm>
              <a:off x="7429500" y="1714500"/>
              <a:ext cx="4191000" cy="447675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02855" y="1854518"/>
              <a:ext cx="1266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DAG 节点结构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0" y="2152650"/>
              <a:ext cx="3810000" cy="3810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60018" y="2295049"/>
              <a:ext cx="3335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(spec, code, invariants, exports, depends_on)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04760" y="26898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三条硬约束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05712" y="2964656"/>
              <a:ext cx="27149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① 拓扑顺序：祖先 code 全 approved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05712" y="3174206"/>
              <a:ext cx="1762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才能开始本 stage spec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05712" y="3479006"/>
              <a:ext cx="16059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② Invariant 自动继承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05712" y="3688556"/>
              <a:ext cx="27067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dag_extract_invariants(node_id)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05712" y="3993356"/>
              <a:ext cx="2641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③ 祖先 spec 修订 → 后代 dirty 标记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05712" y="4202906"/>
              <a:ext cx="1573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(need re-approval)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4667250"/>
              <a:ext cx="3810000" cy="1333500"/>
            </a:xfrm>
            <a:prstGeom prst="roundRect">
              <a:avLst>
                <a:gd name="adj" fmla="val 5714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796212" y="4812506"/>
              <a:ext cx="20729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common.header 自动同步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97165" y="506825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code_gen_approve 时自动从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97165" y="52778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fs/&lt;m&gt;/*.c 抽 public exports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97165" y="5487352"/>
              <a:ext cx="17212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追加 extern 声明 → 后代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97165" y="5696902"/>
              <a:ext cx="1107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stage 直接看到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77" name="Line 77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61022" y="652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Challenges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05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8" grpId="0"/>
      <p:bldP spid="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709063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Challenge III · LLM 不可信 — 三类典型幻觉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92053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即使 spec 写得严谨，LLM 仍可能逐项偏离。三类幻觉在 v0.5.6 之前的所有 stage 真实出现过 — 七层防御按类拦截。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1809750"/>
            <a:ext cx="3619500" cy="4191000"/>
            <a:chOff x="571500" y="1809750"/>
            <a:chExt cx="3619500" cy="41910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3619500" cy="41910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809750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057400"/>
              <a:ext cx="3619500" cy="22860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1050" y="1952625"/>
              <a:ext cx="16137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① 函数签名漂移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6765" y="2439352"/>
              <a:ext cx="27946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spec 写 LiteOS-A 风，code 出 Linux 风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2743200"/>
              <a:ext cx="3162300" cy="571500"/>
            </a:xfrm>
            <a:prstGeom prst="roundRect">
              <a:avLst>
                <a:gd name="adj" fmla="val 10000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0118" y="2876074"/>
              <a:ext cx="26947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int VfsMount(struct super_block *sb,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0118" y="3085624"/>
              <a:ext cx="1576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void *data, int silent)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6765" y="3506152"/>
              <a:ext cx="10234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spec 实际要求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" y="3733800"/>
              <a:ext cx="3162300" cy="571500"/>
            </a:xfrm>
            <a:prstGeom prst="roundRect">
              <a:avLst>
                <a:gd name="adj" fmla="val 10000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0118" y="3866674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int VfsExfatMount(struct Mount *m,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0118" y="4076224"/>
              <a:ext cx="25950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struct Vnode *blk, const void *data)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45729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拦截层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4782502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Step 2.1 LSP clangd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4992052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+ Step 4 SpecEval (spec↔code)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541115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检测：FSMAP_ENTRY 注册的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5620702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MountOps 字段类型不匹配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286250" y="1809750"/>
            <a:ext cx="3619500" cy="4191000"/>
            <a:chOff x="4286250" y="1809750"/>
            <a:chExt cx="3619500" cy="4191000"/>
          </a:xfrm>
        </p:grpSpPr>
        <p:sp>
          <p:nvSpPr>
            <p:cNvPr id="29" name="Rectangle 29"/>
            <p:cNvSpPr/>
            <p:nvPr/>
          </p:nvSpPr>
          <p:spPr>
            <a:xfrm>
              <a:off x="4286250" y="1809750"/>
              <a:ext cx="3619500" cy="41910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86250" y="1809750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2057400"/>
              <a:ext cx="3619500" cy="22860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95800" y="1952625"/>
              <a:ext cx="14642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② 幻觉 helper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1515" y="2439352"/>
              <a:ext cx="2004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编出 [RELY] 中不存在的辅助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514850" y="2743200"/>
              <a:ext cx="3162300" cy="571500"/>
            </a:xfrm>
            <a:prstGeom prst="roundRect">
              <a:avLst>
                <a:gd name="adj" fmla="val 10000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54868" y="2876074"/>
              <a:ext cx="23672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exfat_lookup_path_by_name(...)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54868" y="3085624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// 不在 [RELY]，不在 common.header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01515" y="350615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spec [RELY] 实际只给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514850" y="3733800"/>
              <a:ext cx="3162300" cy="571500"/>
            </a:xfrm>
            <a:prstGeom prst="roundRect">
              <a:avLst>
                <a:gd name="adj" fmla="val 10000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54868" y="3866674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extern int exfat_get_dentry(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54868" y="4076224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sb, dir, entry, bh, sector);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01515" y="45729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拦截层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01515" y="4782502"/>
              <a:ext cx="1567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Step 2.3 kernel build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01515" y="4992052"/>
              <a:ext cx="3017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+ Step 4 SpecEval (hallucinated helpers)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01515" y="541115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检测：undefined reference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01515" y="5620702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+ [RELY] 名称对比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001000" y="1809750"/>
            <a:ext cx="3619500" cy="4191000"/>
            <a:chOff x="8001000" y="1809750"/>
            <a:chExt cx="3619500" cy="4191000"/>
          </a:xfrm>
        </p:grpSpPr>
        <p:sp>
          <p:nvSpPr>
            <p:cNvPr id="47" name="Rectangle 47"/>
            <p:cNvSpPr/>
            <p:nvPr/>
          </p:nvSpPr>
          <p:spPr>
            <a:xfrm>
              <a:off x="8001000" y="1809750"/>
              <a:ext cx="3619500" cy="41910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01000" y="1809750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01000" y="2057400"/>
              <a:ext cx="3619500" cy="22860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10550" y="1952625"/>
              <a:ext cx="1153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③ 风格污染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16265" y="2439352"/>
              <a:ext cx="22732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strcpy / memcpy / printf 直出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229600" y="2743200"/>
              <a:ext cx="3162300" cy="571500"/>
            </a:xfrm>
            <a:prstGeom prst="roundRect">
              <a:avLst>
                <a:gd name="adj" fmla="val 10000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69618" y="2876074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strncpy(buf, name, len);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69618" y="3085624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printf("mount failed\n");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16265" y="350615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华为安全编码 + 内核约束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29600" y="3733800"/>
              <a:ext cx="3162300" cy="571500"/>
            </a:xfrm>
            <a:prstGeom prst="roundRect">
              <a:avLst>
                <a:gd name="adj" fmla="val 10000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69618" y="3866674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strncpy_s(buf, sz, name, len);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69618" y="4076224"/>
              <a:ext cx="21037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PRINT_ERR("mount failed\n");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16265" y="45729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拦截层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16265" y="4782502"/>
              <a:ext cx="15218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Step 2.2 style audit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16265" y="4992052"/>
              <a:ext cx="26873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(LLM self-judge vs style_rules.md)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16265" y="541115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检测 6 维度：命名 / libsec 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16265" y="5620702"/>
              <a:ext cx="20892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锁 / 错误路径 / 布局 / 复杂度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65" name="Line 65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1022" y="652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Challenges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06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46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561845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Challenge IV · spec ↔ code drift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1037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单次生成无法保证 spec 真的指导了 code — 论文 SpecEval 检 spec↔code 一致性；本项目新增 Loop C 检 spec/code↔Linux 等价性。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1905000"/>
            <a:ext cx="4714875" cy="4095750"/>
            <a:chOff x="571500" y="1905000"/>
            <a:chExt cx="4714875" cy="4095750"/>
          </a:xfrm>
        </p:grpSpPr>
        <p:sp>
          <p:nvSpPr>
            <p:cNvPr id="11" name="Rectangle 11"/>
            <p:cNvSpPr/>
            <p:nvPr/>
          </p:nvSpPr>
          <p:spPr>
            <a:xfrm>
              <a:off x="571500" y="1905000"/>
              <a:ext cx="36195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7243" y="2083118"/>
              <a:ext cx="10280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Linux 原始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96998" y="2382202"/>
              <a:ext cx="13685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fs/exfat/namei.c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9330" y="25917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exfat_unlink(...)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1210" y="30489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事实来源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84534" y="32966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十几年沉淀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4095750"/>
              <a:ext cx="36195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98297" y="4273868"/>
              <a:ext cx="965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生成 spec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0953" y="460009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spec/exfat/inode/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38753" y="47905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exfat_unlink.spec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25743" y="50873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+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25155" y="53430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fs/exfat/exfat_inode.c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0434" y="55525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VfsExfatUnlink(...)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381500" y="2857500"/>
              <a:ext cx="762000" cy="2190750"/>
            </a:xfrm>
            <a:custGeom>
              <a:avLst/>
              <a:gdLst/>
              <a:ahLst/>
              <a:cxnLst/>
              <a:rect l="l" t="t" r="r" b="b"/>
              <a:pathLst>
                <a:path w="762000" h="2190750">
                  <a:moveTo>
                    <a:pt x="0" y="0"/>
                  </a:moveTo>
                  <a:lnTo>
                    <a:pt x="762000" y="0"/>
                  </a:lnTo>
                  <a:lnTo>
                    <a:pt x="762000" y="2190750"/>
                  </a:lnTo>
                  <a:lnTo>
                    <a:pt x="0" y="219075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8145" y="38109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三种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47890" y="402050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drift</a:t>
              </a:r>
            </a:p>
          </p:txBody>
        </p:sp>
        <p:sp>
          <p:nvSpPr>
            <p:cNvPr id="27" name="Polygon 27"/>
            <p:cNvSpPr/>
            <p:nvPr/>
          </p:nvSpPr>
          <p:spPr>
            <a:xfrm>
              <a:off x="5143500" y="3876675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76200"/>
                  </a:moveTo>
                  <a:lnTo>
                    <a:pt x="142875" y="0"/>
                  </a:lnTo>
                  <a:lnTo>
                    <a:pt x="142875" y="15240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524500" y="1905000"/>
            <a:ext cx="6096000" cy="4095750"/>
            <a:chOff x="5524500" y="1905000"/>
            <a:chExt cx="6096000" cy="4095750"/>
          </a:xfrm>
        </p:grpSpPr>
        <p:sp>
          <p:nvSpPr>
            <p:cNvPr id="29" name="Rectangle 29"/>
            <p:cNvSpPr/>
            <p:nvPr/>
          </p:nvSpPr>
          <p:spPr>
            <a:xfrm>
              <a:off x="5524500" y="1905000"/>
              <a:ext cx="60960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97855" y="2083118"/>
              <a:ext cx="19182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三类 drift 与拦截层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0" y="2400300"/>
              <a:ext cx="5715000" cy="1047750"/>
            </a:xfrm>
            <a:prstGeom prst="roundRect">
              <a:avLst>
                <a:gd name="adj" fmla="val 7273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53112" y="2526506"/>
              <a:ext cx="1796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A. spec ↔ code 不一致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54065" y="2763202"/>
              <a:ext cx="49186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spec 声明 Pre-Cond 但 code 没实现；或 code 用了 spec 没说的辅助。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54065" y="2991802"/>
              <a:ext cx="43435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拦截：Step 4 SpecEval (prompts/speceval.md) — 论文 §4.5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55018" y="3247549"/>
              <a:ext cx="4780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→ codegen_drift 路由到 Step 1 重生 / spec_under_specified → SpecFine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0" y="3600450"/>
              <a:ext cx="5715000" cy="1047750"/>
            </a:xfrm>
            <a:prstGeom prst="roundRect">
              <a:avLst>
                <a:gd name="adj" fmla="val 7273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53112" y="3726656"/>
              <a:ext cx="21937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B. spec ↔ Linux 语义不等价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54065" y="3963352"/>
              <a:ext cx="47575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spec 描述的"做什么"与 Linux 实际行为有差距 (under-specified)。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54065" y="4191952"/>
              <a:ext cx="3124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拦截：</a:t>
              </a:r>
              <a:r>
                <a:rPr lang="zh-CN" sz="105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Loop C linux_compare</a:t>
              </a:r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 xml:space="preserve"> (v0.5.6 新增)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55018" y="4447699"/>
              <a:ext cx="4681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→ 写到 docs/&lt;m&gt;_prompt_feedback.md，累积后反向优化 prompt 模板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15000" y="4800600"/>
              <a:ext cx="5715000" cy="1047750"/>
            </a:xfrm>
            <a:prstGeom prst="roundRect">
              <a:avLst>
                <a:gd name="adj" fmla="val 7273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53112" y="4926806"/>
              <a:ext cx="20211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C. code ↔ Linux 行为漂移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54065" y="5163502"/>
              <a:ext cx="54170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spec 说对了但 code 漏步骤 (e.g. name-cache 驱逐 / parent mtime 刷新)。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54065" y="5392102"/>
              <a:ext cx="41058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拦截：</a:t>
              </a:r>
              <a:r>
                <a:rPr lang="zh-CN" sz="105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Loop C linux_compare</a:t>
              </a:r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 xml:space="preserve"> + Step 5.2 QEMU LTP smoke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55018" y="5647849"/>
              <a:ext cx="37271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→ root_cause = codegen_drift 路由到 code_gen_refine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47" name="Line 47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1022" y="652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Challenges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07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800850"/>
              <a:ext cx="12192000" cy="5715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57200" y="742950"/>
            <a:ext cx="1746790" cy="1828800"/>
            <a:chOff x="457200" y="742950"/>
            <a:chExt cx="1746790" cy="1828800"/>
          </a:xfrm>
        </p:grpSpPr>
        <p:sp>
          <p:nvSpPr>
            <p:cNvPr id="5" name="TextBox 5"/>
            <p:cNvSpPr txBox="1"/>
            <p:nvPr/>
          </p:nvSpPr>
          <p:spPr>
            <a:xfrm>
              <a:off x="457200" y="742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0" b="1" dirty="0">
                  <a:solidFill>
                    <a:srgbClr val="C53030"/>
                  </a:solidFill>
                  <a:latin typeface="Georgia"/>
                  <a:ea typeface="Microsoft YaHei"/>
                  <a:cs typeface="Georgia"/>
                </a:rPr>
                <a:t>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965960"/>
              <a:ext cx="11521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PART · DESIGN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23622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rgbClr val="C5303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14350" y="3133725"/>
            <a:ext cx="6376225" cy="1133475"/>
            <a:chOff x="514350" y="3133725"/>
            <a:chExt cx="6376225" cy="1133475"/>
          </a:xfrm>
        </p:grpSpPr>
        <p:sp>
          <p:nvSpPr>
            <p:cNvPr id="9" name="TextBox 9"/>
            <p:cNvSpPr txBox="1"/>
            <p:nvPr/>
          </p:nvSpPr>
          <p:spPr>
            <a:xfrm>
              <a:off x="514350" y="3133725"/>
              <a:ext cx="287464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设计总览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8640" y="3901440"/>
              <a:ext cx="63419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两个 HITL 闭环 · SYSSPEC 规范结构 · DAG 多阶段继承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4667250"/>
            <a:ext cx="5334000" cy="1238250"/>
            <a:chOff x="571500" y="4667250"/>
            <a:chExt cx="5334000" cy="1238250"/>
          </a:xfrm>
        </p:grpSpPr>
        <p:sp>
          <p:nvSpPr>
            <p:cNvPr id="12" name="Rectangle 12"/>
            <p:cNvSpPr/>
            <p:nvPr/>
          </p:nvSpPr>
          <p:spPr>
            <a:xfrm>
              <a:off x="571500" y="4667250"/>
              <a:ext cx="5334000" cy="1238250"/>
            </a:xfrm>
            <a:prstGeom prst="roundRect">
              <a:avLst>
                <a:gd name="adj" fmla="val 9231"/>
              </a:avLst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4667250"/>
              <a:ext cx="57150" cy="123825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145" y="4851082"/>
              <a:ext cx="12311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Loop spec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4860" y="5166360"/>
              <a:ext cx="24140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Linux 源 → SYSSPEC 四段 spec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5468302"/>
              <a:ext cx="43588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spec_gen_start → submit → SpecEval → spec_fine → approve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4667250"/>
            <a:ext cx="5334000" cy="1238250"/>
            <a:chOff x="6286500" y="4667250"/>
            <a:chExt cx="5334000" cy="1238250"/>
          </a:xfrm>
        </p:grpSpPr>
        <p:sp>
          <p:nvSpPr>
            <p:cNvPr id="18" name="Rectangle 18"/>
            <p:cNvSpPr/>
            <p:nvPr/>
          </p:nvSpPr>
          <p:spPr>
            <a:xfrm>
              <a:off x="6286500" y="4667250"/>
              <a:ext cx="5334000" cy="1238250"/>
            </a:xfrm>
            <a:prstGeom prst="roundRect">
              <a:avLst>
                <a:gd name="adj" fmla="val 9231"/>
              </a:avLst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86500" y="4667250"/>
              <a:ext cx="57150" cy="123825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4145" y="4851082"/>
              <a:ext cx="12311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Loop code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99860" y="5166360"/>
              <a:ext cx="2431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spec → LiteOS-A C + 七层防御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01765" y="5468302"/>
              <a:ext cx="42591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codegen → LSP / style / build / test / audit / qemu / user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24" name="TextBox 24"/>
            <p:cNvSpPr txBox="1"/>
            <p:nvPr/>
          </p:nvSpPr>
          <p:spPr>
            <a:xfrm>
              <a:off x="561022" y="652129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Design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08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659377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SYSSPEC 规范结构：4 段必备 + 1 段可选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99501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来源：FAST'26 SYSSPEC 论文 §4.1；本项目增强项：[GUARANTEE] 调用约定注释 + `## Refine Prompt` Phase 2 锁状态契约。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714500"/>
            <a:ext cx="5524500" cy="952500"/>
            <a:chOff x="571500" y="1714500"/>
            <a:chExt cx="5524500" cy="952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55245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14500"/>
              <a:ext cx="57150" cy="95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2955" y="1835468"/>
              <a:ext cx="10280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[PROMPT]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6765" y="2115502"/>
              <a:ext cx="4328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目标文件 · 头文件 · 输出规则 · 高层意图 · domain knowledge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7718" y="2352199"/>
              <a:ext cx="39549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一段散文，告诉 codegen LLM 把代码追加到哪里、引用什么头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2762250"/>
            <a:ext cx="5524500" cy="952500"/>
            <a:chOff x="571500" y="2762250"/>
            <a:chExt cx="5524500" cy="952500"/>
          </a:xfrm>
        </p:grpSpPr>
        <p:sp>
          <p:nvSpPr>
            <p:cNvPr id="17" name="Rectangle 17"/>
            <p:cNvSpPr/>
            <p:nvPr/>
          </p:nvSpPr>
          <p:spPr>
            <a:xfrm>
              <a:off x="571500" y="2762250"/>
              <a:ext cx="55245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762250"/>
              <a:ext cx="57150" cy="95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2955" y="2883218"/>
              <a:ext cx="7174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[RELY]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6765" y="3163252"/>
              <a:ext cx="3454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真实 LiteOS-A 类型与辅助函数签名 (```c block)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718" y="3399949"/>
              <a:ext cx="4545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禁：Linux 原语 (kmalloc / mutex_lock) · 抽象描述 ("use a mutex")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810000"/>
            <a:ext cx="5524500" cy="952500"/>
            <a:chOff x="571500" y="3810000"/>
            <a:chExt cx="5524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571500" y="3810000"/>
              <a:ext cx="55245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3810000"/>
              <a:ext cx="57150" cy="95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2955" y="3930968"/>
              <a:ext cx="1286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[GUARANTEE]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4211002"/>
              <a:ext cx="46425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函数签名 + 调用约定注释块（返回值 / 副作用 / Phase 1 持锁状态）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7718" y="4447699"/>
              <a:ext cx="2936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禁：Phase 2 锁状态（属 ## Refine Prompt）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857750"/>
            <a:ext cx="5724287" cy="1143000"/>
            <a:chOff x="571500" y="4857750"/>
            <a:chExt cx="5724287" cy="1143000"/>
          </a:xfrm>
        </p:grpSpPr>
        <p:sp>
          <p:nvSpPr>
            <p:cNvPr id="29" name="Rectangle 29"/>
            <p:cNvSpPr/>
            <p:nvPr/>
          </p:nvSpPr>
          <p:spPr>
            <a:xfrm>
              <a:off x="571500" y="4857750"/>
              <a:ext cx="55245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4857750"/>
              <a:ext cx="57150" cy="1143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2955" y="4978718"/>
              <a:ext cx="1628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[SPECIFICATION]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5258752"/>
              <a:ext cx="5509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Pre / Post-Condition · Case 1/2/... · </a:t>
              </a:r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Invariant (id=&lt;m&gt;-&lt;stage&gt;-&lt;noun&gt;)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5487352"/>
              <a:ext cx="3791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+ </a:t>
              </a:r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System Algorithm</a:t>
              </a:r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 (项目级强制 — 论文只对 L3 强制)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7718" y="5724049"/>
              <a:ext cx="3392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Invariant id 全局唯一 · 跨 stage 通过 DAG 自动继承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0" y="1714500"/>
            <a:ext cx="5334000" cy="4286250"/>
            <a:chOff x="6286500" y="1714500"/>
            <a:chExt cx="5334000" cy="4286250"/>
          </a:xfrm>
        </p:grpSpPr>
        <p:sp>
          <p:nvSpPr>
            <p:cNvPr id="36" name="Rectangle 36"/>
            <p:cNvSpPr/>
            <p:nvPr/>
          </p:nvSpPr>
          <p:spPr>
            <a:xfrm>
              <a:off x="6286500" y="171450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19050">
              <a:solidFill>
                <a:srgbClr val="C5303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86500" y="1714500"/>
              <a:ext cx="57150" cy="428625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6050" y="1895475"/>
              <a:ext cx="19358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3030"/>
                  </a:solidFill>
                  <a:latin typeface="Consolas"/>
                  <a:ea typeface="Microsoft YaHei"/>
                  <a:cs typeface="Consolas"/>
                </a:rPr>
                <a:t>## Refine Prompt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1765" y="222980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条件触发：函数路径取锁时必须有 (Phase 2)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99860" y="2632710"/>
              <a:ext cx="23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触发条件 (P1.5 hard gate)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01765" y="2896552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1. Linux 源用 mutex_lock / spin_lock /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01765" y="31061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down_* / *_lock_irqsave，或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1765" y="3315652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2. 草稿 [RELY] 前向声明 LOS_Mux* /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01765" y="3525202"/>
              <a:ext cx="2158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LOS_Spin* (struct 字段不算)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99860" y="3832860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Phase 2 内容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01765" y="4096702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[RELY] 只含锁原语 (LOS_MuxLock 等)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01765" y="4306252"/>
              <a:ext cx="1805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[SPECIFICATION of &lt;fn&gt;]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01765" y="4515802"/>
              <a:ext cx="24573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Pre / Post (lock state) per case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01765" y="47253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锁初始化顺序约束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01765" y="49349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Deadlock note (AA/AB)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01765" y="5144452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System Algorithm (locking phases)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02718" y="5476399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禁：重述 Phase 1 Cases · 改 signature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02718" y="5685949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· 在未触发时留空 placeholder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55" name="Line 55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1022" y="652129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Design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09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2" grpId="0"/>
      <p:bldP spid="28" grpId="0"/>
      <p:bldP spid="35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637294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Loop spec · Linux 源 → SYSSPEC spec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79785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6 步 · ambiguity 必须先 AskUserQuestion · SpecEval 兜底 · spec_fine 上限 3 轮（用户硬约束）。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905000"/>
            <a:ext cx="1743099" cy="1143000"/>
            <a:chOff x="571500" y="1905000"/>
            <a:chExt cx="1743099" cy="1143000"/>
          </a:xfrm>
        </p:grpSpPr>
        <p:sp>
          <p:nvSpPr>
            <p:cNvPr id="11" name="Rectangle 11"/>
            <p:cNvSpPr/>
            <p:nvPr/>
          </p:nvSpPr>
          <p:spPr>
            <a:xfrm>
              <a:off x="571500" y="1905000"/>
              <a:ext cx="17145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A365D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04850" y="2038350"/>
              <a:ext cx="304800" cy="3048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762" y="21345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9660" y="2118360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摄取 Linux 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1520" y="2436495"/>
              <a:ext cx="1034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spec_gen_start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0568" y="2599849"/>
              <a:ext cx="1213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读 Linux TU + 祖先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0568" y="2771299"/>
              <a:ext cx="1584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invariants → 拼 prompt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571750" y="1905000"/>
            <a:ext cx="1714500" cy="1143000"/>
            <a:chOff x="2571750" y="1905000"/>
            <a:chExt cx="1714500" cy="1143000"/>
          </a:xfrm>
        </p:grpSpPr>
        <p:sp>
          <p:nvSpPr>
            <p:cNvPr id="19" name="Rectangle 19"/>
            <p:cNvSpPr/>
            <p:nvPr/>
          </p:nvSpPr>
          <p:spPr>
            <a:xfrm>
              <a:off x="2571750" y="1905000"/>
              <a:ext cx="17145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C53030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705100" y="2038350"/>
              <a:ext cx="304800" cy="304800"/>
            </a:xfrm>
            <a:prstGeom prst="ellipse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99884" y="2134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89910" y="21183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消歧（如有）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31770" y="2436495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AskUserQuestion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30818" y="259984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2-4 选项 · 必须先解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30818" y="27712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才能进生成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72000" y="1905000"/>
            <a:ext cx="1714500" cy="1143000"/>
            <a:chOff x="4572000" y="1905000"/>
            <a:chExt cx="1714500" cy="1143000"/>
          </a:xfrm>
        </p:grpSpPr>
        <p:sp>
          <p:nvSpPr>
            <p:cNvPr id="27" name="Rectangle 27"/>
            <p:cNvSpPr/>
            <p:nvPr/>
          </p:nvSpPr>
          <p:spPr>
            <a:xfrm>
              <a:off x="4572000" y="1905000"/>
              <a:ext cx="17145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A365D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705350" y="2038350"/>
              <a:ext cx="304800" cy="3048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00134" y="2134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90160" y="2118360"/>
              <a:ext cx="8585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生成 spec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32020" y="2436495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spec_gen_submit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31068" y="2599849"/>
              <a:ext cx="11141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LLM 出四段 spec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31068" y="2771299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+ 可能 Refine Prompt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572250" y="1905000"/>
            <a:ext cx="1735588" cy="1143000"/>
            <a:chOff x="6572250" y="1905000"/>
            <a:chExt cx="1735588" cy="1143000"/>
          </a:xfrm>
        </p:grpSpPr>
        <p:sp>
          <p:nvSpPr>
            <p:cNvPr id="35" name="Rectangle 35"/>
            <p:cNvSpPr/>
            <p:nvPr/>
          </p:nvSpPr>
          <p:spPr>
            <a:xfrm>
              <a:off x="6572250" y="1905000"/>
              <a:ext cx="17145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A365D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705600" y="2038350"/>
              <a:ext cx="304800" cy="3048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0384" y="2134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90410" y="2118360"/>
              <a:ext cx="12174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SpecEval 自审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31318" y="2428399"/>
              <a:ext cx="13775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Layer 3 (论文 §4.5)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31318" y="2599849"/>
              <a:ext cx="1256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空 case / 重复 id /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31318" y="2771299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违反 spec 覆盖规则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72500" y="1905000"/>
            <a:ext cx="1714500" cy="1143000"/>
            <a:chOff x="8572500" y="1905000"/>
            <a:chExt cx="1714500" cy="1143000"/>
          </a:xfrm>
        </p:grpSpPr>
        <p:sp>
          <p:nvSpPr>
            <p:cNvPr id="43" name="Rectangle 43"/>
            <p:cNvSpPr/>
            <p:nvPr/>
          </p:nvSpPr>
          <p:spPr>
            <a:xfrm>
              <a:off x="8572500" y="1905000"/>
              <a:ext cx="17145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1A365D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705850" y="2038350"/>
              <a:ext cx="304800" cy="3048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00634" y="2134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90660" y="21183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spec_fine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31568" y="2428399"/>
              <a:ext cx="13348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SpecAssistant 精化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31568" y="2599849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硬上限 3 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31568" y="2771299"/>
              <a:ext cx="1078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超出 → HITL 介入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489016" y="1905000"/>
            <a:ext cx="1131484" cy="1143000"/>
            <a:chOff x="10489016" y="1905000"/>
            <a:chExt cx="1131484" cy="1143000"/>
          </a:xfrm>
        </p:grpSpPr>
        <p:sp>
          <p:nvSpPr>
            <p:cNvPr id="51" name="Rectangle 51"/>
            <p:cNvSpPr/>
            <p:nvPr/>
          </p:nvSpPr>
          <p:spPr>
            <a:xfrm>
              <a:off x="10572750" y="1905000"/>
              <a:ext cx="1047750" cy="1143000"/>
            </a:xfrm>
            <a:prstGeom prst="roundRect">
              <a:avLst>
                <a:gd name="adj" fmla="val 9091"/>
              </a:avLst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706100" y="2038350"/>
              <a:ext cx="304800" cy="304800"/>
            </a:xfrm>
            <a:prstGeom prst="ellipse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800884" y="2134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89016" y="236601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approve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43520" y="2618899"/>
              <a:ext cx="629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HITL 终审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04360" y="2809399"/>
              <a:ext cx="7082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+ DAG 提交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286000" y="2419350"/>
            <a:ext cx="8286750" cy="114300"/>
            <a:chOff x="2286000" y="2419350"/>
            <a:chExt cx="8286750" cy="114300"/>
          </a:xfrm>
        </p:grpSpPr>
        <p:sp>
          <p:nvSpPr>
            <p:cNvPr id="58" name="Freeform 58"/>
            <p:cNvSpPr/>
            <p:nvPr/>
          </p:nvSpPr>
          <p:spPr>
            <a:xfrm>
              <a:off x="22860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247650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428625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61" name="Polygon 61"/>
            <p:cNvSpPr/>
            <p:nvPr/>
          </p:nvSpPr>
          <p:spPr>
            <a:xfrm>
              <a:off x="447675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62865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63" name="Polygon 63"/>
            <p:cNvSpPr/>
            <p:nvPr/>
          </p:nvSpPr>
          <p:spPr>
            <a:xfrm>
              <a:off x="647700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828675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847725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102870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1047750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C7A7B"/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5372100" y="3048000"/>
            <a:ext cx="4057650" cy="807244"/>
            <a:chOff x="5372100" y="3048000"/>
            <a:chExt cx="4057650" cy="807244"/>
          </a:xfrm>
        </p:grpSpPr>
        <p:sp>
          <p:nvSpPr>
            <p:cNvPr id="69" name="Freeform 69"/>
            <p:cNvSpPr/>
            <p:nvPr/>
          </p:nvSpPr>
          <p:spPr>
            <a:xfrm>
              <a:off x="5429250" y="3048000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4000500" y="0"/>
                  </a:moveTo>
                  <a:cubicBezTo>
                    <a:pt x="4000500" y="508000"/>
                    <a:pt x="3333750" y="762000"/>
                    <a:pt x="2000250" y="762000"/>
                  </a:cubicBezTo>
                  <a:cubicBezTo>
                    <a:pt x="666750" y="762000"/>
                    <a:pt x="0" y="508000"/>
                    <a:pt x="0" y="0"/>
                  </a:cubicBezTo>
                </a:path>
              </a:pathLst>
            </a:custGeom>
            <a:noFill/>
            <a:ln w="19050">
              <a:solidFill>
                <a:srgbClr val="C53030"/>
              </a:solidFill>
              <a:custDash>
                <a:ds d="300000" sp="200000"/>
              </a:custDash>
            </a:ln>
          </p:spPr>
        </p:sp>
        <p:sp>
          <p:nvSpPr>
            <p:cNvPr id="70" name="Polygon 70"/>
            <p:cNvSpPr/>
            <p:nvPr/>
          </p:nvSpPr>
          <p:spPr>
            <a:xfrm>
              <a:off x="5372100" y="3048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C5303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52045" y="3657124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spec_fine 反馈 → 重新生成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71500" y="4095750"/>
            <a:ext cx="11049000" cy="1905000"/>
            <a:chOff x="571500" y="4095750"/>
            <a:chExt cx="11049000" cy="19050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95750"/>
              <a:ext cx="110490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44855" y="42738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硬约束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7712" y="4602956"/>
              <a:ext cx="64611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① </a:t>
              </a:r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Ask-first</a:t>
              </a:r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 · 4 类必问：歧义 / 缺失符号 / 与祖先 invariant 冲突 / 超出 stage scope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7712" y="4869656"/>
              <a:ext cx="75373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② </a:t>
              </a:r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[RELY] 真实签名</a:t>
              </a:r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 · 必须给具体 C 声明 (e.g. LOS_MuxLock(LosMux *, UINT32 timeout)) · 禁泛指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7712" y="5136356"/>
              <a:ext cx="6420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③ </a:t>
              </a:r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[GUARANTEE] 调用约定</a:t>
              </a:r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 · 函数签名上方必须有 /* Calling convention: ... */ 注释块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7712" y="5403056"/>
              <a:ext cx="6477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④ </a:t>
              </a:r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Invariant id 全局唯一</a:t>
              </a:r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 · 跨 stage 不能重；后代继承不变 (dag_extract_invariants)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7712" y="5669756"/>
              <a:ext cx="70280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⑤ </a:t>
              </a:r>
              <a:r>
                <a:rPr lang="zh-CN" sz="112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spec_fine ≤ 3</a:t>
              </a:r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 · 项目内 feedback_specfine_cap_3 · 超出反映 spec 设计问题，需 HITL 介入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81" name="Line 81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61022" y="652129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Design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6" grpId="0"/>
      <p:bldP spid="34" grpId="0"/>
      <p:bldP spid="42" grpId="0"/>
      <p:bldP spid="50" grpId="0"/>
      <p:bldP spid="57" grpId="0"/>
      <p:bldP spid="68" grpId="0"/>
      <p:bldP spid="72" grpId="0"/>
      <p:bldP spid="8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554484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Loop code · spec → C + 七层防御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898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每步独立 retry 预算 · 失败按 source 标签注入 [Modification suggestions] · 用户终审是唯一不可绕过的闸门。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809750"/>
            <a:ext cx="5709190" cy="762000"/>
            <a:chOff x="571500" y="1809750"/>
            <a:chExt cx="5709190" cy="7620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3619500" cy="762000"/>
            </a:xfrm>
            <a:prstGeom prst="roundRect">
              <a:avLst>
                <a:gd name="adj" fmla="val 10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4855" y="1968818"/>
              <a:ext cx="1649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Step 1 · codegen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229802"/>
              <a:ext cx="55320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prompts/codegen.md + LITEOS_DIGEST + 祖先 invariants + frozen contract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6260" y="2775585"/>
            <a:ext cx="8397240" cy="1241584"/>
            <a:chOff x="556260" y="2775585"/>
            <a:chExt cx="8397240" cy="1241584"/>
          </a:xfrm>
        </p:grpSpPr>
        <p:sp>
          <p:nvSpPr>
            <p:cNvPr id="15" name="TextBox 15"/>
            <p:cNvSpPr txBox="1"/>
            <p:nvPr/>
          </p:nvSpPr>
          <p:spPr>
            <a:xfrm>
              <a:off x="556260" y="2775585"/>
              <a:ext cx="43090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Step 2 · 静态检查 + 内核 build (任一失败 → Step 1)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048000"/>
              <a:ext cx="26670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1A365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3048000"/>
              <a:ext cx="57150" cy="95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7712" y="3193256"/>
              <a:ext cx="12707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2.1 LSP compile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438049"/>
              <a:ext cx="1313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clangd via OMC LSP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3628549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P1.3 去掉 gcc 兜底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81904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retry 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29000" y="3048000"/>
              <a:ext cx="26670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1A365D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29000" y="3048000"/>
              <a:ext cx="57150" cy="95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05212" y="3193256"/>
              <a:ext cx="1279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2.2 style audit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07118" y="3438049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LLM 自判 vs style_rules.md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07118" y="36285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6 维：命名/libsec/锁/...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07118" y="381904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retry 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86500" y="3048000"/>
              <a:ext cx="26670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1A365D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3048000"/>
              <a:ext cx="57150" cy="95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62712" y="3193256"/>
              <a:ext cx="13311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2.3 kernel build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4618" y="3438049"/>
              <a:ext cx="1171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run_build_kernel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4618" y="3628549"/>
              <a:ext cx="1747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捕 undefined ref / 类型错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4618" y="381904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retry 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44000" y="3048000"/>
            <a:ext cx="2476500" cy="969169"/>
            <a:chOff x="9144000" y="3048000"/>
            <a:chExt cx="2476500" cy="969169"/>
          </a:xfrm>
        </p:grpSpPr>
        <p:sp>
          <p:nvSpPr>
            <p:cNvPr id="35" name="Rectangle 35"/>
            <p:cNvSpPr/>
            <p:nvPr/>
          </p:nvSpPr>
          <p:spPr>
            <a:xfrm>
              <a:off x="9144000" y="3048000"/>
              <a:ext cx="24765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20212" y="3193256"/>
              <a:ext cx="2098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Step 3 · cmocka 测试生成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2118" y="3438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unittest_gen.md prompt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22118" y="362854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每 Case + 可测 Invariant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22118" y="381904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retry 3 (默认 ON)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286250"/>
            <a:ext cx="5649635" cy="988219"/>
            <a:chOff x="571500" y="4286250"/>
            <a:chExt cx="5649635" cy="988219"/>
          </a:xfrm>
        </p:grpSpPr>
        <p:sp>
          <p:nvSpPr>
            <p:cNvPr id="41" name="Rectangle 41"/>
            <p:cNvSpPr/>
            <p:nvPr/>
          </p:nvSpPr>
          <p:spPr>
            <a:xfrm>
              <a:off x="571500" y="4286250"/>
              <a:ext cx="36195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7712" y="4431506"/>
              <a:ext cx="29355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Step 4 · spec/code audit (merged)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9618" y="4676299"/>
              <a:ext cx="44391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prompts/speceval.md + heterogeneous_audit.md (Linux 等价审)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4885849"/>
              <a:ext cx="5108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findings: codegen_drift / test_gap / spec_under_specified / prompt_gap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618" y="5076349"/>
              <a:ext cx="5471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retry 3 · 路由：drift→Step 1 / spec→SpecFine / test→Step 3.1 / prompt→archive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81500" y="4286250"/>
            <a:ext cx="3619500" cy="988219"/>
            <a:chOff x="4381500" y="4286250"/>
            <a:chExt cx="3619500" cy="988219"/>
          </a:xfrm>
        </p:grpSpPr>
        <p:sp>
          <p:nvSpPr>
            <p:cNvPr id="47" name="Rectangle 47"/>
            <p:cNvSpPr/>
            <p:nvPr/>
          </p:nvSpPr>
          <p:spPr>
            <a:xfrm>
              <a:off x="4381500" y="4286250"/>
              <a:ext cx="36195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57712" y="4431506"/>
              <a:ext cx="16157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Step 5 · 运行时验证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59618" y="4676299"/>
              <a:ext cx="33426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5.1 cmocka exec (主机 wave；覆盖 Step 3 + 历史)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59618" y="4885849"/>
              <a:ext cx="24882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5.2 QEMU smoke (run_qemu_smoke)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59618" y="5076349"/>
              <a:ext cx="2167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retry 3 · --no-build 可跳过整段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191500" y="4286250"/>
            <a:ext cx="3542134" cy="988219"/>
            <a:chOff x="8191500" y="4286250"/>
            <a:chExt cx="3542134" cy="988219"/>
          </a:xfrm>
        </p:grpSpPr>
        <p:sp>
          <p:nvSpPr>
            <p:cNvPr id="53" name="Rectangle 53"/>
            <p:cNvSpPr/>
            <p:nvPr/>
          </p:nvSpPr>
          <p:spPr>
            <a:xfrm>
              <a:off x="8191500" y="4286250"/>
              <a:ext cx="3429000" cy="952500"/>
            </a:xfrm>
            <a:prstGeom prst="roundRect">
              <a:avLst>
                <a:gd name="adj" fmla="val 8000"/>
              </a:avLst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67712" y="4431506"/>
              <a:ext cx="18314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Step 6 · HITL 用户终审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69618" y="4676299"/>
              <a:ext cx="20183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code + test 一起审 · 不可绕过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69618" y="4885849"/>
              <a:ext cx="33640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approve → DAG code 层提交 + common.header 同步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69618" y="50763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reject → 重生 / 部分修改 → 部分 step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324100" y="2571750"/>
            <a:ext cx="5353050" cy="1714500"/>
            <a:chOff x="2324100" y="2571750"/>
            <a:chExt cx="5353050" cy="1714500"/>
          </a:xfrm>
        </p:grpSpPr>
        <p:sp>
          <p:nvSpPr>
            <p:cNvPr id="59" name="Freeform 59"/>
            <p:cNvSpPr/>
            <p:nvPr/>
          </p:nvSpPr>
          <p:spPr>
            <a:xfrm>
              <a:off x="2381250" y="25717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2324100" y="2933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7620000" y="4000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7562850" y="41910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C7A7B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61022" y="6381750"/>
            <a:ext cx="11069955" cy="307181"/>
            <a:chOff x="561022" y="6381750"/>
            <a:chExt cx="11069955" cy="307181"/>
          </a:xfrm>
        </p:grpSpPr>
        <p:sp>
          <p:nvSpPr>
            <p:cNvPr id="64" name="Line 64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1022" y="652129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Design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66622" y="65212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34" grpId="0"/>
      <p:bldP spid="40" grpId="0"/>
      <p:bldP spid="46" grpId="0"/>
      <p:bldP spid="52" grpId="0"/>
      <p:bldP spid="58" grpId="0"/>
      <p:bldP spid="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663058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DAG of stages · 跨阶段 invariant 继承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99151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每节点 = (spec, code, invariants, exports, depends_on)；persisted 在 spec/&lt;m&gt;/.specfs.dag.json，与代码同源审。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714500"/>
            <a:ext cx="5715000" cy="4381500"/>
            <a:chOff x="571500" y="1714500"/>
            <a:chExt cx="5715000" cy="4381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5715000" cy="4381500"/>
            </a:xfrm>
            <a:prstGeom prst="roundRect">
              <a:avLst>
                <a:gd name="adj" fmla="val 2609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4855" y="1854518"/>
              <a:ext cx="31500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DAG 节点结构（unlink 真实样例）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152650"/>
              <a:ext cx="5334000" cy="3676650"/>
            </a:xfrm>
            <a:prstGeom prst="roundRect">
              <a:avLst>
                <a:gd name="adj" fmla="val 1554"/>
              </a:avLst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18" y="2295049"/>
              <a:ext cx="13775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{ "id": "unlink-v1",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2485549"/>
              <a:ext cx="1747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"stage_name": "unlink",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0118" y="2676049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"spec": {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0118" y="2866549"/>
              <a:ext cx="35704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"files": ["spec/exfat/inode/exfat_unlink.spec"],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0118" y="305704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"git_sha": "&lt;oid&gt;",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0118" y="3247549"/>
              <a:ext cx="2417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"approved_at": "2026-05-08T..."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0118" y="3438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},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0118" y="3628549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"code": {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0118" y="3819049"/>
              <a:ext cx="2701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"files": ["fs/exfat/exfat_inode.c"],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118" y="4009549"/>
              <a:ext cx="4118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"validations_passed": {compile,style:true; others:false}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118" y="4200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},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118" y="43905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"invariants": [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0118" y="4581049"/>
              <a:ext cx="4118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{"id":"exfat-unlink-dentry-type-top-bit-cleared", ...},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4771549"/>
              <a:ext cx="39834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{"id":"exfat-unlink-tombstone-prevents-reuse", ...},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118" y="4962049"/>
              <a:ext cx="34921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{"id":"exfat-unlink-vol-dirty-bracketed", ...},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0118" y="5152549"/>
              <a:ext cx="7225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... (6 共)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0118" y="5343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],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0118" y="553354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"depends_on": ["mount-v1"] }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1714500"/>
            <a:ext cx="5143500" cy="2095500"/>
            <a:chOff x="6477000" y="1714500"/>
            <a:chExt cx="5143500" cy="2095500"/>
          </a:xfrm>
        </p:grpSpPr>
        <p:sp>
          <p:nvSpPr>
            <p:cNvPr id="33" name="Rectangle 33"/>
            <p:cNvSpPr/>
            <p:nvPr/>
          </p:nvSpPr>
          <p:spPr>
            <a:xfrm>
              <a:off x="6477000" y="1714500"/>
              <a:ext cx="51435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0355" y="1854518"/>
              <a:ext cx="13282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三条 DAG 属性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3212" y="2221706"/>
              <a:ext cx="9897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① </a:t>
              </a:r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拓扑序生成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5118" y="2466499"/>
              <a:ext cx="33497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祖先 code 必须全 approved 才能开始本 stage spec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3212" y="2774156"/>
              <a:ext cx="16059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② </a:t>
              </a:r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Invariant 自动继承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5118" y="3018949"/>
              <a:ext cx="35847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collect_invariants(node_id) 沿 depends_on 递归回溯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3212" y="3326606"/>
              <a:ext cx="9569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③ </a:t>
              </a:r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Dirty 传播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5118" y="3571399"/>
              <a:ext cx="38196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祖先 spec 改 → 后代 spec.dirty=true (need re-approve)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477000" y="4000500"/>
            <a:ext cx="5143500" cy="2095500"/>
            <a:chOff x="6477000" y="4000500"/>
            <a:chExt cx="5143500" cy="2095500"/>
          </a:xfrm>
        </p:grpSpPr>
        <p:sp>
          <p:nvSpPr>
            <p:cNvPr id="42" name="Rectangle 42"/>
            <p:cNvSpPr/>
            <p:nvPr/>
          </p:nvSpPr>
          <p:spPr>
            <a:xfrm>
              <a:off x="6477000" y="4000500"/>
              <a:ext cx="5143500" cy="2095500"/>
            </a:xfrm>
            <a:prstGeom prst="roundRect">
              <a:avLst>
                <a:gd name="adj" fmla="val 5455"/>
              </a:avLst>
            </a:prstGeom>
            <a:solidFill>
              <a:srgbClr val="EDF2F7"/>
            </a:solidFill>
            <a:ln w="19050">
              <a:solidFill>
                <a:srgbClr val="2C7A7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0355" y="4140518"/>
              <a:ext cx="24875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common.header 自动同步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4165" y="4515802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code_gen_approve 触发：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4165" y="4763452"/>
              <a:ext cx="30630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→ extract.collect_exports(fs/&lt;m&gt;/*.c)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4165" y="4992052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→ 追加 extern 声明到 spec/&lt;m&gt;/common.header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54165" y="523970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→ 后代 stage 的 prompt 自动继承 → 看得到新符号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5118" y="5666899"/>
              <a:ext cx="49375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marker 块单例（v0.3.4.2 起去重）· dedup_common_header 工具修复历史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50" name="Line 50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1022" y="652129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Design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2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637294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spec 覆盖规则 · 接口与窄工具才 spec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9144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早期把所有函数都 spec → 6 个 mkdir 实现编排 helper 全废，spec 比 code 多 30% — 命题不成立。重新收口至 4 类。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809750"/>
            <a:ext cx="2714625" cy="3048000"/>
            <a:chOff x="571500" y="1809750"/>
            <a:chExt cx="2714625" cy="30480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2714625" cy="30480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809750"/>
              <a:ext cx="2714625" cy="476250"/>
            </a:xfrm>
            <a:prstGeom prst="roundRect">
              <a:avLst>
                <a:gd name="adj" fmla="val 24000"/>
              </a:avLst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057400"/>
              <a:ext cx="2714625" cy="22860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4855" y="1968818"/>
              <a:ext cx="12557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(a) VFS 回调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458402"/>
              <a:ext cx="2349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挂在 VnodeOps / MountOps 表上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2687002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的公开 API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0951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VfsExfatMount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304699"/>
              <a:ext cx="1121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VfsExfatLookup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514249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VfsExfatRead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3723799"/>
              <a:ext cx="1050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VfsExfatUnlink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933349"/>
              <a:ext cx="10357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VfsExfatMkdir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4428649"/>
              <a:ext cx="12636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strict — 必须 spec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4619149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classifier: behavioral tier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476625" y="1809750"/>
            <a:ext cx="2714625" cy="3048000"/>
            <a:chOff x="3476625" y="1809750"/>
            <a:chExt cx="2714625" cy="3048000"/>
          </a:xfrm>
        </p:grpSpPr>
        <p:sp>
          <p:nvSpPr>
            <p:cNvPr id="25" name="Rectangle 25"/>
            <p:cNvSpPr/>
            <p:nvPr/>
          </p:nvSpPr>
          <p:spPr>
            <a:xfrm>
              <a:off x="3476625" y="1809750"/>
              <a:ext cx="2714625" cy="30480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76625" y="1809750"/>
              <a:ext cx="2714625" cy="476250"/>
            </a:xfrm>
            <a:prstGeom prst="roundRect">
              <a:avLst>
                <a:gd name="adj" fmla="val 24000"/>
              </a:avLst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476625" y="2057400"/>
              <a:ext cx="2714625" cy="22860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49980" y="1968818"/>
              <a:ext cx="2052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(b) Linux 公共头函数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53790" y="2458402"/>
              <a:ext cx="16522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 xml:space="preserve">Linux </a:t>
              </a:r>
              <a:r>
                <a:rPr lang="zh-CN" sz="105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exfat_fs.h</a:t>
              </a:r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 xml:space="preserve"> 公开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53790" y="26870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的跨模块辅助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54742" y="309514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exfat_alloc_cluster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54742" y="330469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exfat_zeroed_cluster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54742" y="351424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exfat_set_volume_dirty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54742" y="3723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exfat_get_dentry_set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54742" y="3933349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exfat_validate_dentry_set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54742" y="4428649"/>
              <a:ext cx="12636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strict — 必须 spec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54742" y="4619149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跨 stage 复用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381750" y="1809750"/>
            <a:ext cx="2714625" cy="3048000"/>
            <a:chOff x="6381750" y="1809750"/>
            <a:chExt cx="2714625" cy="3048000"/>
          </a:xfrm>
        </p:grpSpPr>
        <p:sp>
          <p:nvSpPr>
            <p:cNvPr id="39" name="Rectangle 39"/>
            <p:cNvSpPr/>
            <p:nvPr/>
          </p:nvSpPr>
          <p:spPr>
            <a:xfrm>
              <a:off x="6381750" y="1809750"/>
              <a:ext cx="2714625" cy="30480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81750" y="1809750"/>
              <a:ext cx="2714625" cy="476250"/>
            </a:xfrm>
            <a:prstGeom prst="roundRect">
              <a:avLst>
                <a:gd name="adj" fmla="val 24000"/>
              </a:avLst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81750" y="2057400"/>
              <a:ext cx="2714625" cy="22860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5105" y="1968818"/>
              <a:ext cx="1473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(c) 窄稳定工具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8915" y="2458402"/>
              <a:ext cx="14451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单一职责 · ≤100 LOC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8915" y="26870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公式或纯计算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9868" y="309514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exfat_calc_num_entries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59868" y="330469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exfat_inode_alloc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59868" y="3514249"/>
              <a:ext cx="11141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exfat_chksum16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59868" y="3723799"/>
              <a:ext cx="1199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exfat_to_upcase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9868" y="442864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recommended — 多数情况 spec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9868" y="4619149"/>
              <a:ext cx="1135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cmocka 覆盖最稳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286875" y="1809750"/>
            <a:ext cx="2459902" cy="3048000"/>
            <a:chOff x="9286875" y="1809750"/>
            <a:chExt cx="2459902" cy="3048000"/>
          </a:xfrm>
        </p:grpSpPr>
        <p:sp>
          <p:nvSpPr>
            <p:cNvPr id="52" name="Rectangle 52"/>
            <p:cNvSpPr/>
            <p:nvPr/>
          </p:nvSpPr>
          <p:spPr>
            <a:xfrm>
              <a:off x="9286875" y="1809750"/>
              <a:ext cx="2333625" cy="3048000"/>
            </a:xfrm>
            <a:prstGeom prst="roundRect">
              <a:avLst>
                <a:gd name="adj" fmla="val 4898"/>
              </a:avLst>
            </a:prstGeom>
            <a:solidFill>
              <a:srgbClr val="FFFFFF"/>
            </a:solidFill>
            <a:ln w="19050">
              <a:solidFill>
                <a:srgbClr val="C5303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286875" y="1809750"/>
              <a:ext cx="2333625" cy="476250"/>
            </a:xfrm>
            <a:prstGeom prst="roundRect">
              <a:avLst>
                <a:gd name="adj" fmla="val 24000"/>
              </a:avLst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286875" y="2057400"/>
              <a:ext cx="2333625" cy="22860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60230" y="1968818"/>
              <a:ext cx="7588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不 spec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64040" y="24584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实现编排器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4992" y="2695099"/>
              <a:ext cx="1199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exfat_add_entry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64992" y="2904649"/>
              <a:ext cx="1434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exfat_alloc_new_dir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64040" y="32775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字段布局 helper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4992" y="3514249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exfat_init_dir_entry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64992" y="372379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Consolas"/>
                  <a:ea typeface="Microsoft YaHei"/>
                  <a:cs typeface="Consolas"/>
                </a:rPr>
                <a:t>exfat_init_ext_entry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64040" y="40967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内部回滚 / 循环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64992" y="4428649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这些归 commit msg + cmocka 覆盖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5048250"/>
            <a:ext cx="11049000" cy="952500"/>
            <a:chOff x="571500" y="5048250"/>
            <a:chExt cx="11049000" cy="952500"/>
          </a:xfrm>
        </p:grpSpPr>
        <p:sp>
          <p:nvSpPr>
            <p:cNvPr id="65" name="Rectangle 65"/>
            <p:cNvSpPr/>
            <p:nvPr/>
          </p:nvSpPr>
          <p:spPr>
            <a:xfrm>
              <a:off x="571500" y="504825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5812" y="51935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为什么收口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6765" y="5449252"/>
              <a:ext cx="71805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实现编排器是高波动代码 · 把它们 spec 出来 = 锁死可塑性 · spec/code 比例失衡 = 论文生产力命题崩溃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6765" y="5677852"/>
              <a:ext cx="86757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classifier 自动判定（_classify_invariant in tools/specfs_eval/collect.py）· 收口后 spec/code LOC ≈ 1.6（论文 ~1.2）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70" name="Line 70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1022" y="652129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Design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38" grpId="0"/>
      <p:bldP spid="51" grpId="0"/>
      <p:bldP spid="64" grpId="0"/>
      <p:bldP spid="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工具链架构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90476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MCP server (30+ 工具) + prompt assembly (8 模板 + 5 fragment) + skill 方法论。Claude Code 当 LLM agent。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809750"/>
            <a:ext cx="11049000" cy="762000"/>
            <a:chOff x="571500" y="1809750"/>
            <a:chExt cx="11049000" cy="7620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1049000" cy="762000"/>
            </a:xfrm>
            <a:prstGeom prst="roundRect">
              <a:avLst>
                <a:gd name="adj" fmla="val 125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46609" y="1933575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用户层 (HITL)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3604" y="2267902"/>
              <a:ext cx="6344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/specfs-port (status) · /specfs-port-spec (Loop A) · /specfs-port-code (Loop B)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6096000" y="25717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6038850" y="27622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1A365D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571500" y="2905125"/>
            <a:ext cx="11049000" cy="762000"/>
            <a:chOff x="571500" y="2905125"/>
            <a:chExt cx="11049000" cy="762000"/>
          </a:xfrm>
        </p:grpSpPr>
        <p:sp>
          <p:nvSpPr>
            <p:cNvPr id="17" name="Rectangle 17"/>
            <p:cNvSpPr/>
            <p:nvPr/>
          </p:nvSpPr>
          <p:spPr>
            <a:xfrm>
              <a:off x="571500" y="2905125"/>
              <a:ext cx="11049000" cy="762000"/>
            </a:xfrm>
            <a:prstGeom prst="roundRect">
              <a:avLst>
                <a:gd name="adj" fmla="val 12500"/>
              </a:avLst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64511" y="3028950"/>
              <a:ext cx="30629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LLM Agent 层 (Claude Code)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9025" y="3363278"/>
              <a:ext cx="4933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读 skills/specfs-port 方法论 + 调 MCP 工具 + AskUserQuestion 闸门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6096000" y="366712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6038850" y="385762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1A365D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571500" y="4000500"/>
            <a:ext cx="7429500" cy="2095500"/>
            <a:chOff x="571500" y="4000500"/>
            <a:chExt cx="7429500" cy="2095500"/>
          </a:xfrm>
        </p:grpSpPr>
        <p:sp>
          <p:nvSpPr>
            <p:cNvPr id="23" name="Rectangle 23"/>
            <p:cNvSpPr/>
            <p:nvPr/>
          </p:nvSpPr>
          <p:spPr>
            <a:xfrm>
              <a:off x="571500" y="4000500"/>
              <a:ext cx="74295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1A365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4855" y="4140518"/>
              <a:ext cx="4019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MCP server · server/specfs_server.py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8665" y="4439602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session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0570" y="46462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session_start / status / end · toggle_*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8665" y="4915852"/>
              <a:ext cx="3053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spec_gen_* / code_gen_* / test_gen_*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570" y="5122545"/>
              <a:ext cx="2171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start · refine · submit · approve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665" y="5392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分层防御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570" y="5598795"/>
              <a:ext cx="43868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run_build_kernel · run_qemu_smoke · inject_diagnostics · spec_fine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570" y="5846445"/>
              <a:ext cx="30526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linux_compare_* · prompt_optimize_* (v0.5.6)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0" y="4000500"/>
            <a:ext cx="3429000" cy="2095500"/>
            <a:chOff x="8191500" y="4000500"/>
            <a:chExt cx="3429000" cy="2095500"/>
          </a:xfrm>
        </p:grpSpPr>
        <p:sp>
          <p:nvSpPr>
            <p:cNvPr id="33" name="Rectangle 33"/>
            <p:cNvSpPr/>
            <p:nvPr/>
          </p:nvSpPr>
          <p:spPr>
            <a:xfrm>
              <a:off x="8191500" y="4000500"/>
              <a:ext cx="34290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64855" y="4140518"/>
              <a:ext cx="8727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Prompts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68665" y="443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默认模板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0570" y="4646295"/>
              <a:ext cx="1554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linux_to_spec · codegen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0570" y="47986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speceval · spec_fine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0570" y="4951095"/>
              <a:ext cx="17382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style_audit · unittest_gen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0570" y="5103495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linux_compare · prompt_optimize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68665" y="5334952"/>
              <a:ext cx="1644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on-demand fragment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0570" y="554164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style_rules · liteos_digest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0570" y="5694045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format_traps · two_phase_rules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0570" y="58464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linux_to_liteos_table · ask_first_rules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45" name="Line 45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1022" y="6521291"/>
              <a:ext cx="557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Toolchain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0" grpId="0"/>
      <p:bldP spid="32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分层防御拓扑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81537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从最便宜（LSP）到最贵（QEMU）逐层 fail-fast · 各层独立 retry · 用户终审是唯一不可绕过的闸门。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714500"/>
            <a:ext cx="11049000" cy="361950"/>
            <a:chOff x="571500" y="1714500"/>
            <a:chExt cx="11049000" cy="36195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2667000" cy="3429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8660" y="1832610"/>
              <a:ext cx="214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238500" y="1714500"/>
              <a:ext cx="2667000" cy="3429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75660" y="18326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检测对象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05500" y="1714500"/>
              <a:ext cx="3048000" cy="3429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42660" y="183261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retry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953500" y="1714500"/>
              <a:ext cx="2667000" cy="3429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90660" y="18326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失败路由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057400"/>
            <a:ext cx="11049000" cy="457200"/>
            <a:chOff x="571500" y="2057400"/>
            <a:chExt cx="11049000" cy="457200"/>
          </a:xfrm>
        </p:grpSpPr>
        <p:sp>
          <p:nvSpPr>
            <p:cNvPr id="20" name="Rectangle 20"/>
            <p:cNvSpPr/>
            <p:nvPr/>
          </p:nvSpPr>
          <p:spPr>
            <a:xfrm>
              <a:off x="571500" y="20574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612" y="2202656"/>
              <a:ext cx="12115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2.1 LSP compile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238500" y="20574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77565" y="2210752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语法 · 类型 · 未声明符号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905500" y="2057400"/>
              <a:ext cx="3048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5518" y="221884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4 · clangd via OMC LSP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953500" y="20574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92565" y="2210752"/>
              <a:ext cx="939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→ Step 1 重生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2514600"/>
            <a:ext cx="11049000" cy="457200"/>
            <a:chOff x="571500" y="2514600"/>
            <a:chExt cx="11049000" cy="457200"/>
          </a:xfrm>
        </p:grpSpPr>
        <p:sp>
          <p:nvSpPr>
            <p:cNvPr id="29" name="Rectangle 29"/>
            <p:cNvSpPr/>
            <p:nvPr/>
          </p:nvSpPr>
          <p:spPr>
            <a:xfrm>
              <a:off x="571500" y="25146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9612" y="2659856"/>
              <a:ext cx="12197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2.2 style audit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238500" y="25146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77565" y="2667952"/>
              <a:ext cx="18592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6 维：命名/libsec/锁/...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905500" y="2514600"/>
              <a:ext cx="3048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5518" y="267604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5 · LLM self-judge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953500" y="25146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92565" y="2667952"/>
              <a:ext cx="939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→ Step 1 重生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2971800"/>
            <a:ext cx="11049000" cy="457200"/>
            <a:chOff x="571500" y="2971800"/>
            <a:chExt cx="11049000" cy="457200"/>
          </a:xfrm>
        </p:grpSpPr>
        <p:sp>
          <p:nvSpPr>
            <p:cNvPr id="38" name="Rectangle 38"/>
            <p:cNvSpPr/>
            <p:nvPr/>
          </p:nvSpPr>
          <p:spPr>
            <a:xfrm>
              <a:off x="571500" y="29718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9612" y="3117056"/>
              <a:ext cx="1269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2.3 kernel build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238500" y="29718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377565" y="31251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链接 · 跨 TU 依赖 · 头文件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905500" y="2971800"/>
              <a:ext cx="3048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45518" y="313324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3 · ninja build.sh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953500" y="29718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92565" y="3125152"/>
              <a:ext cx="939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→ Step 1 重生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429000"/>
            <a:ext cx="11049000" cy="457200"/>
            <a:chOff x="571500" y="3429000"/>
            <a:chExt cx="11049000" cy="457200"/>
          </a:xfrm>
        </p:grpSpPr>
        <p:sp>
          <p:nvSpPr>
            <p:cNvPr id="47" name="Rectangle 47"/>
            <p:cNvSpPr/>
            <p:nvPr/>
          </p:nvSpPr>
          <p:spPr>
            <a:xfrm>
              <a:off x="571500" y="34290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9612" y="3574256"/>
              <a:ext cx="15894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3 · cmocka 测试生成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238500" y="34290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377565" y="3582352"/>
              <a:ext cx="1774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每 Case + 可测 Invariant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905500" y="3429000"/>
              <a:ext cx="3048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5518" y="3590449"/>
              <a:ext cx="17406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3 · LLM + cmocka compile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953500" y="34290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092565" y="35823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→ test_gen_refine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3886200"/>
            <a:ext cx="11049000" cy="457200"/>
            <a:chOff x="571500" y="3886200"/>
            <a:chExt cx="11049000" cy="457200"/>
          </a:xfrm>
        </p:grpSpPr>
        <p:sp>
          <p:nvSpPr>
            <p:cNvPr id="56" name="Rectangle 56"/>
            <p:cNvSpPr/>
            <p:nvPr/>
          </p:nvSpPr>
          <p:spPr>
            <a:xfrm>
              <a:off x="571500" y="38862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9612" y="40314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4 · spec/code audit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38500" y="38862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377565" y="40395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spec↔code + Linux 等价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905500" y="3886200"/>
              <a:ext cx="3048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45518" y="40476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3 · 异构 LLM 审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953500" y="38862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092565" y="4039552"/>
              <a:ext cx="19205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→ 路由 drift / spec / test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4343400"/>
            <a:ext cx="11049000" cy="457200"/>
            <a:chOff x="571500" y="4343400"/>
            <a:chExt cx="11049000" cy="457200"/>
          </a:xfrm>
        </p:grpSpPr>
        <p:sp>
          <p:nvSpPr>
            <p:cNvPr id="65" name="Rectangle 65"/>
            <p:cNvSpPr/>
            <p:nvPr/>
          </p:nvSpPr>
          <p:spPr>
            <a:xfrm>
              <a:off x="571500" y="43434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9612" y="4488656"/>
              <a:ext cx="1293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5.1 cmocka exec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238500" y="43434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377565" y="4496752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主机 unit · 49 testpoint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905500" y="4343400"/>
              <a:ext cx="3048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045518" y="4504849"/>
              <a:ext cx="8293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3 · ~2s 远端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953500" y="4343400"/>
              <a:ext cx="2667000" cy="457200"/>
            </a:xfrm>
            <a:prstGeom prst="rect">
              <a:avLst/>
            </a:prstGeom>
            <a:solidFill>
              <a:srgbClr val="EDF2F7"/>
            </a:solidFill>
            <a:ln w="9525">
              <a:solidFill>
                <a:srgbClr val="CBD5E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092565" y="449675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→ Step 1 (历史) / 3.1 (本轮)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4800600"/>
            <a:ext cx="11049000" cy="457200"/>
            <a:chOff x="571500" y="4800600"/>
            <a:chExt cx="11049000" cy="457200"/>
          </a:xfrm>
        </p:grpSpPr>
        <p:sp>
          <p:nvSpPr>
            <p:cNvPr id="74" name="Rectangle 74"/>
            <p:cNvSpPr/>
            <p:nvPr/>
          </p:nvSpPr>
          <p:spPr>
            <a:xfrm>
              <a:off x="571500" y="48006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9612" y="4945856"/>
              <a:ext cx="1310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5.2 QEMU smoke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3238500" y="48006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377565" y="4953952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LTP 6 case · 真实 panic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905500" y="4800600"/>
              <a:ext cx="3048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45518" y="4962049"/>
              <a:ext cx="651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3 · ~5min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953500" y="4800600"/>
              <a:ext cx="2667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092565" y="4953952"/>
              <a:ext cx="939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→ Step 1 重生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71500" y="5257800"/>
            <a:ext cx="11049000" cy="457200"/>
            <a:chOff x="571500" y="5257800"/>
            <a:chExt cx="11049000" cy="457200"/>
          </a:xfrm>
        </p:grpSpPr>
        <p:sp>
          <p:nvSpPr>
            <p:cNvPr id="83" name="Rectangle 83"/>
            <p:cNvSpPr/>
            <p:nvPr/>
          </p:nvSpPr>
          <p:spPr>
            <a:xfrm>
              <a:off x="571500" y="5257800"/>
              <a:ext cx="2667000" cy="45720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09612" y="5403056"/>
              <a:ext cx="1400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6 · HITL 用户终审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238500" y="5257800"/>
              <a:ext cx="2667000" cy="45720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3377565" y="54111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code + test 一起审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905500" y="5257800"/>
              <a:ext cx="3048000" cy="45720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045518" y="5419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不可绕过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953500" y="5257800"/>
              <a:ext cx="2667000" cy="457200"/>
            </a:xfrm>
            <a:prstGeom prst="rect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092565" y="54111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approve → DAG 提交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92" name="Line 92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61022" y="6521291"/>
              <a:ext cx="557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Toolchain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37" grpId="0"/>
      <p:bldP spid="46" grpId="0"/>
      <p:bldP spid="55" grpId="0"/>
      <p:bldP spid="64" grpId="0"/>
      <p:bldP spid="73" grpId="0"/>
      <p:bldP spid="82" grpId="0"/>
      <p:bldP spid="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918850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 xml:space="preserve">Loop C · 反向优化 prompt 模板 </a:t>
              </a:r>
              <a:r>
                <a:rPr lang="zh-CN" sz="150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[v0.5.6 P1.6 Wave 2]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337798" cy="533400"/>
            <a:chOff x="571500" y="952500"/>
            <a:chExt cx="11337798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111244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 xml:space="preserve">优化对象是 </a:t>
              </a:r>
              <a:r>
                <a:rPr lang="zh-CN" sz="120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prompt 模板</a:t>
              </a:r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，不是当前 stage 产物。测的是 prompt 引导能力，不是 LLM 修复能力（首次单次产物 + fast_eval 模式 = 隔离）。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52450" y="1609725"/>
            <a:ext cx="5543550" cy="4391025"/>
            <a:chOff x="552450" y="1609725"/>
            <a:chExt cx="5543550" cy="4391025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1609725"/>
              <a:ext cx="1924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Step A · 比对累积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905000"/>
              <a:ext cx="55245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62000" y="2095500"/>
              <a:ext cx="5143500" cy="571500"/>
              <a:chOff x="762000" y="2095500"/>
              <a:chExt cx="5143500" cy="571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095500"/>
                <a:ext cx="51435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761840" y="2194560"/>
                <a:ext cx="114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/>
                    <a:ea typeface="Microsoft YaHei"/>
                    <a:cs typeface="Arial"/>
                  </a:rPr>
                  <a:t>完成的 stage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06104" y="2428399"/>
                <a:ext cx="38552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spec/&lt;m&gt;/.../&lt;op&gt;.spec.first + fs/&lt;m&gt;/&lt;op&gt;.c.first</a:t>
                </a: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3333750" y="269557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276600" y="279082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62000" y="2905125"/>
              <a:ext cx="5143500" cy="571500"/>
              <a:chOff x="762000" y="2905125"/>
              <a:chExt cx="5143500" cy="571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2905125"/>
                <a:ext cx="51435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384593" y="2994660"/>
                <a:ext cx="18983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/>
                    <a:ea typeface="Microsoft YaHei"/>
                    <a:cs typeface="Arial"/>
                  </a:rPr>
                  <a:t>linux_compare_start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16142" y="3247549"/>
                <a:ext cx="34352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vs /Users/kissa/Codebase/linux/fs/&lt;m&gt;/&lt;src&gt;.c</a:t>
                </a: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3333750" y="3505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3276600" y="36004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62000" y="3714750"/>
              <a:ext cx="5143500" cy="571500"/>
              <a:chOff x="762000" y="3714750"/>
              <a:chExt cx="5143500" cy="571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62000" y="3714750"/>
                <a:ext cx="51435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338588" y="3804285"/>
                <a:ext cx="19903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/>
                    <a:ea typeface="Microsoft YaHei"/>
                    <a:cs typeface="Arial"/>
                  </a:rPr>
                  <a:t>linux_compare_submit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313545" y="4057174"/>
                <a:ext cx="40404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JSON: spec_gaps · code_gaps · 推荐 (root_cause-tagged)</a:t>
                </a: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3333750" y="43148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3276600" y="44100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62000" y="4524375"/>
              <a:ext cx="5143500" cy="571500"/>
              <a:chOff x="762000" y="4524375"/>
              <a:chExt cx="5143500" cy="571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62000" y="4524375"/>
                <a:ext cx="51435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896932" y="4613910"/>
                <a:ext cx="28736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docs/&lt;m&gt;_prompt_feedback.md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509695" y="4866799"/>
                <a:ext cx="16481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BD5E0"/>
                    </a:solidFill>
                    <a:latin typeface="Arial"/>
                    <a:ea typeface="Microsoft YaHei"/>
                    <a:cs typeface="Arial"/>
                  </a:rPr>
                  <a:t>累积反馈 · HITL 浏览入口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749618" y="5343049"/>
              <a:ext cx="23647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关键 · submit 不动 sess.failures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553354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→ 不触发 code_gen_refine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618" y="5724049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→ Loop C 反馈只流向 prompt 模板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67450" y="1609725"/>
            <a:ext cx="5353050" cy="4391025"/>
            <a:chOff x="6267450" y="1609725"/>
            <a:chExt cx="5353050" cy="4391025"/>
          </a:xfrm>
        </p:grpSpPr>
        <p:sp>
          <p:nvSpPr>
            <p:cNvPr id="39" name="TextBox 39"/>
            <p:cNvSpPr txBox="1"/>
            <p:nvPr/>
          </p:nvSpPr>
          <p:spPr>
            <a:xfrm>
              <a:off x="6267450" y="160972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Step B · 反向改 prompt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86500" y="1905000"/>
              <a:ext cx="53340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77000" y="2095500"/>
              <a:ext cx="4953000" cy="571500"/>
              <a:chOff x="6477000" y="2095500"/>
              <a:chExt cx="4953000" cy="5715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477000" y="2095500"/>
                <a:ext cx="49530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783516" y="2194560"/>
                <a:ext cx="2339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/>
                    <a:ea typeface="Microsoft YaHei"/>
                    <a:cs typeface="Arial"/>
                  </a:rPr>
                  <a:t>prompt_optimize_propose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88009" y="2428399"/>
                <a:ext cx="25309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读累积推荐 → 元提示要求 LLM 加性改写</a:t>
                </a:r>
              </a:p>
            </p:txBody>
          </p:sp>
        </p:grpSp>
        <p:sp>
          <p:nvSpPr>
            <p:cNvPr id="45" name="Freeform 45"/>
            <p:cNvSpPr/>
            <p:nvPr/>
          </p:nvSpPr>
          <p:spPr>
            <a:xfrm>
              <a:off x="8953500" y="269557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896350" y="279082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77000" y="2905125"/>
              <a:ext cx="4953000" cy="571500"/>
              <a:chOff x="6477000" y="2905125"/>
              <a:chExt cx="4953000" cy="5715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477000" y="2905125"/>
                <a:ext cx="49530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92967" y="2994660"/>
                <a:ext cx="152106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/>
                    <a:ea typeface="Microsoft YaHei"/>
                    <a:cs typeface="Arial"/>
                  </a:rPr>
                  <a:t>Fresh agent 改写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349811" y="3247549"/>
                <a:ext cx="32073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隔离上下文 · 不读其他 prompts/* · 不读 docs/*</a:t>
                </a:r>
              </a:p>
            </p:txBody>
          </p:sp>
        </p:grpSp>
        <p:sp>
          <p:nvSpPr>
            <p:cNvPr id="51" name="Freeform 51"/>
            <p:cNvSpPr/>
            <p:nvPr/>
          </p:nvSpPr>
          <p:spPr>
            <a:xfrm>
              <a:off x="8953500" y="3505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1A365D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8896350" y="36004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77000" y="3714750"/>
              <a:ext cx="4953000" cy="571500"/>
              <a:chOff x="6477000" y="3714750"/>
              <a:chExt cx="4953000" cy="571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6477000" y="3714750"/>
                <a:ext cx="49530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EDF2F7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907731" y="3804285"/>
                <a:ext cx="2091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/>
                    <a:ea typeface="Microsoft YaHei"/>
                    <a:cs typeface="Arial"/>
                  </a:rPr>
                  <a:t>prompt_optimize_apply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549170" y="4057174"/>
                <a:ext cx="28086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备份 .bak.&lt;ts&gt; · 写入新版 · 失效模板缓存</a:t>
                </a:r>
              </a:p>
            </p:txBody>
          </p:sp>
        </p:grpSp>
        <p:sp>
          <p:nvSpPr>
            <p:cNvPr id="57" name="Freeform 57"/>
            <p:cNvSpPr/>
            <p:nvPr/>
          </p:nvSpPr>
          <p:spPr>
            <a:xfrm>
              <a:off x="8953500" y="43148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2C7A7B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8896350" y="44100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C7A7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77000" y="4524375"/>
              <a:ext cx="4953000" cy="571500"/>
              <a:chOff x="6477000" y="4524375"/>
              <a:chExt cx="4953000" cy="5715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477000" y="4524375"/>
                <a:ext cx="49530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2C7A7B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783516" y="4613910"/>
                <a:ext cx="2339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下一轮 spec/code 生成生效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275052" y="4866799"/>
                <a:ext cx="33568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BD5E0"/>
                    </a:solidFill>
                    <a:latin typeface="Arial"/>
                    <a:ea typeface="Microsoft YaHei"/>
                    <a:cs typeface="Arial"/>
                  </a:rPr>
                  <a:t>linux_to_spec.md · codegen.md · 任一 fragment</a:t>
                </a:r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6464618" y="5343049"/>
              <a:ext cx="21404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fast_eval 模式 · 单次单次单次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4618" y="5533549"/>
              <a:ext cx="4716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session_start(mode="fast_eval") → speceval/style/test/build 全关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4618" y="5724049"/>
              <a:ext cx="32216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refine/fine/inject_diagnostics 拒绝 → 隔离干扰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67" name="Line 67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1022" y="6521291"/>
              <a:ext cx="557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Toolchain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8" grpId="0"/>
      <p:bldP spid="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66489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案例 · exFAT 移植 9 stage / 1600+ LOC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89950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真实跑通 9 stage · QEMU 端到端验证 mount + readdir + read · spec/code 比例 ~1.6 印证 SpecFS 生产力命题。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1714500"/>
            <a:ext cx="6667500" cy="4286250"/>
            <a:chOff x="571500" y="1714500"/>
            <a:chExt cx="6667500" cy="4286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6667500" cy="428625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4855" y="1854518"/>
              <a:ext cx="15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已落地 stage 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152650"/>
              <a:ext cx="1905000" cy="3048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1065" y="22488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stage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667000" y="2152650"/>
              <a:ext cx="1524000" cy="3048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06065" y="2248852"/>
              <a:ext cx="7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spec LOC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191000" y="2152650"/>
              <a:ext cx="1524000" cy="3048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30065" y="2248852"/>
              <a:ext cx="7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code LOC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0" y="2152650"/>
              <a:ext cx="1524000" cy="3048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4065" y="2248852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spec / code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762000" y="2457450"/>
              <a:ext cx="6477000" cy="285750"/>
              <a:chOff x="762000" y="2457450"/>
              <a:chExt cx="6477000" cy="285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2457450"/>
                <a:ext cx="6477000" cy="28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02018" y="2542699"/>
                <a:ext cx="4448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mount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07018" y="254269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312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331018" y="254269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180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855018" y="2542699"/>
                <a:ext cx="302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1.73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62000" y="2743200"/>
              <a:ext cx="6477000" cy="285750"/>
              <a:chOff x="762000" y="2743200"/>
              <a:chExt cx="6477000" cy="285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62000" y="2743200"/>
                <a:ext cx="6477000" cy="285750"/>
              </a:xfrm>
              <a:prstGeom prst="rect">
                <a:avLst/>
              </a:prstGeom>
              <a:solidFill>
                <a:srgbClr val="EDF2F7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02018" y="2828449"/>
                <a:ext cx="5231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umount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807018" y="282844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198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31018" y="2828449"/>
                <a:ext cx="1885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112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855018" y="2828449"/>
                <a:ext cx="302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1.77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62000" y="3028950"/>
              <a:ext cx="6477000" cy="285750"/>
              <a:chOff x="762000" y="3028950"/>
              <a:chExt cx="6477000" cy="2857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62000" y="3028950"/>
                <a:ext cx="6477000" cy="28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02018" y="3114199"/>
                <a:ext cx="4590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lookup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807018" y="311419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256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331018" y="311419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178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855018" y="3114199"/>
                <a:ext cx="302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1.44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62000" y="3314700"/>
              <a:ext cx="6477000" cy="285750"/>
              <a:chOff x="762000" y="3314700"/>
              <a:chExt cx="6477000" cy="2857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762000" y="3314700"/>
                <a:ext cx="6477000" cy="285750"/>
              </a:xfrm>
              <a:prstGeom prst="rect">
                <a:avLst/>
              </a:prstGeom>
              <a:solidFill>
                <a:srgbClr val="EDF2F7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02018" y="3399949"/>
                <a:ext cx="7723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open_close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807018" y="339994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182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331018" y="339994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120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855018" y="3399949"/>
                <a:ext cx="302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1.52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62000" y="3600450"/>
              <a:ext cx="6477000" cy="285750"/>
              <a:chOff x="762000" y="3600450"/>
              <a:chExt cx="6477000" cy="285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62000" y="3600450"/>
                <a:ext cx="6477000" cy="28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02018" y="3685699"/>
                <a:ext cx="3380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read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807018" y="368569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274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31018" y="368569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155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855018" y="3685699"/>
                <a:ext cx="302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1.77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762000" y="3886200"/>
              <a:ext cx="6477000" cy="285750"/>
              <a:chOff x="762000" y="3886200"/>
              <a:chExt cx="6477000" cy="2857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762000" y="3886200"/>
                <a:ext cx="6477000" cy="285750"/>
              </a:xfrm>
              <a:prstGeom prst="rect">
                <a:avLst/>
              </a:prstGeom>
              <a:solidFill>
                <a:srgbClr val="EDF2F7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02018" y="3971449"/>
                <a:ext cx="5730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getattr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2807018" y="397144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142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331018" y="3971449"/>
                <a:ext cx="1814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94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5855018" y="3971449"/>
                <a:ext cx="2668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1.51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762000" y="4171950"/>
              <a:ext cx="6477000" cy="285750"/>
              <a:chOff x="762000" y="4171950"/>
              <a:chExt cx="6477000" cy="2857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762000" y="4171950"/>
                <a:ext cx="6477000" cy="28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02018" y="4257199"/>
                <a:ext cx="4092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mkdir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2807018" y="425719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288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331018" y="425719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196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5855018" y="4257199"/>
                <a:ext cx="302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1.47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762000" y="4457700"/>
              <a:ext cx="6477000" cy="285750"/>
              <a:chOff x="762000" y="4457700"/>
              <a:chExt cx="6477000" cy="2857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762000" y="4457700"/>
                <a:ext cx="6477000" cy="285750"/>
              </a:xfrm>
              <a:prstGeom prst="rect">
                <a:avLst/>
              </a:prstGeom>
              <a:solidFill>
                <a:srgbClr val="EDF2F7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02018" y="4542949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create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2807018" y="454294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210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4331018" y="454294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140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855018" y="4542949"/>
                <a:ext cx="302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1.50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762000" y="4743450"/>
              <a:ext cx="6477000" cy="285750"/>
              <a:chOff x="762000" y="4743450"/>
              <a:chExt cx="6477000" cy="2857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762000" y="4743450"/>
                <a:ext cx="6477000" cy="285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BD5E0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02018" y="4828699"/>
                <a:ext cx="10927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53030"/>
                    </a:solidFill>
                    <a:latin typeface="Consolas"/>
                    <a:ea typeface="Microsoft YaHei"/>
                    <a:cs typeface="Consolas"/>
                  </a:rPr>
                  <a:t>unlink (v0.5.6)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2807018" y="482869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252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331018" y="4828699"/>
                <a:ext cx="1885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115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5855018" y="4828699"/>
                <a:ext cx="302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3748"/>
                    </a:solidFill>
                    <a:latin typeface="Consolas"/>
                    <a:ea typeface="Microsoft YaHei"/>
                    <a:cs typeface="Consolas"/>
                  </a:rPr>
                  <a:t>2.19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762000" y="5029200"/>
              <a:ext cx="6477000" cy="342900"/>
              <a:chOff x="762000" y="5029200"/>
              <a:chExt cx="6477000" cy="3429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762000" y="5029200"/>
                <a:ext cx="6477000" cy="3429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901065" y="514445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7FAFC"/>
                    </a:solidFill>
                    <a:latin typeface="Arial"/>
                    <a:ea typeface="Microsoft YaHei"/>
                    <a:cs typeface="Arial"/>
                  </a:rPr>
                  <a:t>合计 (9 stage)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2806065" y="5144452"/>
                <a:ext cx="3004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7FAFC"/>
                    </a:solidFill>
                    <a:latin typeface="Consolas"/>
                    <a:ea typeface="Microsoft YaHei"/>
                    <a:cs typeface="Consolas"/>
                  </a:rPr>
                  <a:t>2114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4330065" y="5144452"/>
                <a:ext cx="3406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7FAFC"/>
                    </a:solidFill>
                    <a:latin typeface="Consolas"/>
                    <a:ea typeface="Microsoft YaHei"/>
                    <a:cs typeface="Consolas"/>
                  </a:rPr>
                  <a:t>1290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5854065" y="5144452"/>
                <a:ext cx="3406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7FAFC"/>
                    </a:solidFill>
                    <a:latin typeface="Consolas"/>
                    <a:ea typeface="Microsoft YaHei"/>
                    <a:cs typeface="Consolas"/>
                  </a:rPr>
                  <a:t>1.64</a:t>
                </a:r>
              </a:p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749618" y="5609749"/>
              <a:ext cx="53718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spec/code &gt; 1 → SpecFS 论文生产力命题（"spec 比 code 短"）在本项目部分成立；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9618" y="5800249"/>
              <a:ext cx="63472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注：spec 含 Invariants + System Algorithm + Refine Prompt 三段额外结构（论文只对 L3 强制）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429500" y="1714500"/>
            <a:ext cx="4191000" cy="4286250"/>
            <a:chOff x="7429500" y="1714500"/>
            <a:chExt cx="4191000" cy="4286250"/>
          </a:xfrm>
        </p:grpSpPr>
        <p:sp>
          <p:nvSpPr>
            <p:cNvPr id="84" name="Rectangle 84"/>
            <p:cNvSpPr/>
            <p:nvPr/>
          </p:nvSpPr>
          <p:spPr>
            <a:xfrm>
              <a:off x="7429500" y="1714500"/>
              <a:ext cx="4191000" cy="428625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19050">
              <a:solidFill>
                <a:srgbClr val="2C7A7B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602855" y="1854518"/>
              <a:ext cx="16697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QEMU 端到端验证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620000" y="2152650"/>
              <a:ext cx="3810000" cy="3619500"/>
            </a:xfrm>
            <a:prstGeom prst="roundRect">
              <a:avLst>
                <a:gd name="adj" fmla="val 1579"/>
              </a:avLst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798118" y="2295049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$ qemu-system-arm \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98118" y="248554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-M virt -cpu cortex-a7 \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98118" y="2676049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-bios OHOS_Image.bin \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798118" y="28665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-drive file=smallmmc.img \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798118" y="30570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-nographic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798118" y="334279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OHOS:/$ mount -t exfat \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798118" y="3533299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/dev/mmcblk0p3 /mnt/exfat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798118" y="3723799"/>
              <a:ext cx="1462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[OK] exfat mount ok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798118" y="4009549"/>
              <a:ext cx="19613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OHOS:/$ ls /mnt/exfat/etc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798118" y="4200049"/>
              <a:ext cx="1904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hostname hosts os-release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798118" y="448579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OHOS:/$ cat /mnt/exfat/etc/hosts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798118" y="4676299"/>
              <a:ext cx="13348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127.0.0.1 localhost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798118" y="4962049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OHOS:/$ umount /mnt/exfat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798118" y="51525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7A7B"/>
                  </a:solidFill>
                  <a:latin typeface="Consolas"/>
                  <a:ea typeface="Microsoft YaHei"/>
                  <a:cs typeface="Consolas"/>
                </a:rPr>
                <a:t>[OK] clean umount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798118" y="5438299"/>
              <a:ext cx="12992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─ no kernel panic ─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103" name="Line 103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561022" y="6521291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Case Study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3" grpId="0"/>
      <p:bldP spid="10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1009021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两层回归 · cmocka host (~2s) + QEMU LTP smoke (~5min)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127486" cy="533400"/>
            <a:chOff x="571500" y="952500"/>
            <a:chExt cx="11127486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109141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两层 wave 不冗余：A 测纯逻辑 / 边界（主机），B 测真实挂载 + 系统调用（QEMU）。tools/regress/run_all.sh 串联，exit code 区分。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809750"/>
            <a:ext cx="5524500" cy="4191000"/>
            <a:chOff x="571500" y="1809750"/>
            <a:chExt cx="5524500" cy="41910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5524500" cy="41910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19050">
              <a:solidFill>
                <a:srgbClr val="1A365D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809750"/>
              <a:ext cx="5524500" cy="438150"/>
            </a:xfrm>
            <a:prstGeom prst="roundRect">
              <a:avLst>
                <a:gd name="adj" fmla="val 26087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095500"/>
              <a:ext cx="5524500" cy="1524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950" y="1952625"/>
              <a:ext cx="24303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Wave A · cmocka host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4584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2676049"/>
              <a:ext cx="19898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testsuites/unittest/exfat/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29727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运行环境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190399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主机 Linux x86_64 · gcc + cmocka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39994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不依赖 LiteOS-A 内核 (用 host_stubs/ 替换)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36966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覆盖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914299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test_chksum (8) + test_options (18)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4104799"/>
              <a:ext cx="2438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test_dentry (10) + test_balloc (8)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42952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test_upcase (5)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8665" y="449675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合计 49 testpoint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8665" y="48015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关键设计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5019199"/>
              <a:ext cx="2417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mock_disk RAM 镜像 → 可注入 -EIO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5209699"/>
              <a:ext cx="28086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6KB 手工 exFAT 镜像 (无需 mkfs.exfat)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9618" y="5400199"/>
              <a:ext cx="25879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mock_part_write 改 RAM 不回写磁盘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9618" y="5724049"/>
              <a:ext cx="3029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运行时间 ~2 s · 远端 ssh make · 用作 PR gate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809750"/>
            <a:ext cx="5334000" cy="4191000"/>
            <a:chOff x="6286500" y="1809750"/>
            <a:chExt cx="5334000" cy="4191000"/>
          </a:xfrm>
        </p:grpSpPr>
        <p:sp>
          <p:nvSpPr>
            <p:cNvPr id="31" name="Rectangle 31"/>
            <p:cNvSpPr/>
            <p:nvPr/>
          </p:nvSpPr>
          <p:spPr>
            <a:xfrm>
              <a:off x="6286500" y="1809750"/>
              <a:ext cx="5334000" cy="41910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19050">
              <a:solidFill>
                <a:srgbClr val="1A365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18097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2095500"/>
              <a:ext cx="5334000" cy="1524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7950" y="1952625"/>
              <a:ext cx="28444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Wave B · QEMU LTP smoke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3665" y="24584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位置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4618" y="2676049"/>
              <a:ext cx="22533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tools/regress/qemu_ltp_run.sh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3665" y="29727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运行环境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4618" y="319039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QEMU virt + LiteOS-A 实镜像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4618" y="3380899"/>
              <a:ext cx="2516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真实挂载 exFAT 分区 /dev/mmcblk0p3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3665" y="367760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覆盖 (LTP 6 case)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4618" y="38952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creat01 · open01 · read01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4618" y="408574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write01 · unlink05 · stat01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3665" y="43824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关键设计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4618" y="4600099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OHOS clang 动态链接 (不能 -static)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4618" y="4790599"/>
              <a:ext cx="39336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4 分区 smallmmc.img (rootfs/userfs/userdata/exfat)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4618" y="4981099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命名 fifo 驱动 QEMU stdin，pollLog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4618" y="5171599"/>
              <a:ext cx="2652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grep panic / Oops / BUG → exit 2 立即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3665" y="5525452"/>
              <a:ext cx="42373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7A7B"/>
                  </a:solidFill>
                  <a:latin typeface="Arial"/>
                  <a:ea typeface="Microsoft YaHei"/>
                  <a:cs typeface="Arial"/>
                </a:rPr>
                <a:t>run_all.sh 出口码: 0=pass / 1=test fail / 2=panic-hang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4618" y="5781199"/>
              <a:ext cx="40190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报告：docs/test/exfat_regression_&lt;ts&gt;.md (gitignored)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51" name="Line 51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1022" y="6521291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Case Study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0" grpId="0"/>
      <p:bldP spid="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75690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Loop C unlink 基线 · prompt 反向优化端到端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67955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主会话评测 + 隔离 fresh agent 改写 + dry_run 评审 + apply 备份 · 194/194 测试不变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714500"/>
            <a:ext cx="11049000" cy="778669"/>
            <a:chOff x="571500" y="1714500"/>
            <a:chExt cx="11049000" cy="778669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14500"/>
              <a:ext cx="762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6760" y="1870710"/>
              <a:ext cx="13278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① 固定 baseline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123599"/>
              <a:ext cx="36488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cp spec/exfat/inode/exfat_unlink.spec .spec.first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29504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cp fs/exfat/exfat_inode.c .c.first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4618" y="2009299"/>
              <a:ext cx="1769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v0.5.6 新增的 .first 机制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4618" y="2218849"/>
              <a:ext cx="32572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unlink 是 v0.5.6 之前产物 → 手动 bootstrap 一份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2571750"/>
            <a:ext cx="11049000" cy="762000"/>
            <a:chOff x="571500" y="2571750"/>
            <a:chExt cx="11049000" cy="762000"/>
          </a:xfrm>
        </p:grpSpPr>
        <p:sp>
          <p:nvSpPr>
            <p:cNvPr id="19" name="Rectangle 19"/>
            <p:cNvSpPr/>
            <p:nvPr/>
          </p:nvSpPr>
          <p:spPr>
            <a:xfrm>
              <a:off x="571500" y="25717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2571750"/>
              <a:ext cx="762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760" y="272796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② 主会话 linux_compare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2980849"/>
              <a:ext cx="5407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linux_compare_start(linux: namei.c) → 主会话出 JSON → linux_compare_submit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2866549"/>
              <a:ext cx="30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输出：5 spec_gap + 3 code_gap (4 高严重)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3076099"/>
              <a:ext cx="24740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→ docs/exfat_prompt_feedback.md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3429000"/>
            <a:ext cx="11049000" cy="762000"/>
            <a:chOff x="571500" y="3429000"/>
            <a:chExt cx="11049000" cy="762000"/>
          </a:xfrm>
        </p:grpSpPr>
        <p:sp>
          <p:nvSpPr>
            <p:cNvPr id="26" name="Rectangle 26"/>
            <p:cNvSpPr/>
            <p:nvPr/>
          </p:nvSpPr>
          <p:spPr>
            <a:xfrm>
              <a:off x="571500" y="34290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" y="3429000"/>
              <a:ext cx="762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6760" y="3585210"/>
              <a:ext cx="2496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③ prompt_optimize_propose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9618" y="3838099"/>
              <a:ext cx="3855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propose("linux_to_spec") · propose("codegen") · 并行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4618" y="372379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spec 推荐 3 条 · codegen 推荐 3 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4618" y="3933349"/>
              <a:ext cx="29795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元提示约束：加性 + 不删既有 sec + ≤30% 增长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4286250"/>
            <a:ext cx="11049000" cy="762000"/>
            <a:chOff x="571500" y="4286250"/>
            <a:chExt cx="11049000" cy="762000"/>
          </a:xfrm>
        </p:grpSpPr>
        <p:sp>
          <p:nvSpPr>
            <p:cNvPr id="33" name="Rectangle 33"/>
            <p:cNvSpPr/>
            <p:nvPr/>
          </p:nvSpPr>
          <p:spPr>
            <a:xfrm>
              <a:off x="571500" y="42862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1500" y="4286250"/>
              <a:ext cx="762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6760" y="4442460"/>
              <a:ext cx="20455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④ Fresh agent 并行改写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4695349"/>
              <a:ext cx="39122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Consolas"/>
                  <a:ea typeface="Microsoft YaHei"/>
                  <a:cs typeface="Consolas"/>
                </a:rPr>
                <a:t>Agent(executor, opus) × 2 · 隔离上下文 · 只读元提示文件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4618" y="4581049"/>
              <a:ext cx="34992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输出：/tmp/revised_{linux_to_spec, codegen}.md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4618" y="4790599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两个 agent 间无通信 · 并行 ~2 min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5143500"/>
            <a:ext cx="11854173" cy="835819"/>
            <a:chOff x="571500" y="5143500"/>
            <a:chExt cx="11854173" cy="835819"/>
          </a:xfrm>
        </p:grpSpPr>
        <p:sp>
          <p:nvSpPr>
            <p:cNvPr id="40" name="Rectangle 40"/>
            <p:cNvSpPr/>
            <p:nvPr/>
          </p:nvSpPr>
          <p:spPr>
            <a:xfrm>
              <a:off x="571500" y="51435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500" y="5143500"/>
              <a:ext cx="76200" cy="762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6760" y="5299710"/>
              <a:ext cx="15670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⑤ dry_run → apply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9618" y="5552599"/>
              <a:ext cx="46242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0"/>
                  </a:solidFill>
                  <a:latin typeface="Consolas"/>
                  <a:ea typeface="Microsoft YaHei"/>
                  <a:cs typeface="Consolas"/>
                </a:rPr>
                <a:t>linux_to_spec.md 5,434 → 8,186 字节 (+50.6%) 备份 .bak.1778178417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5724049"/>
              <a:ext cx="42255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0"/>
                  </a:solidFill>
                  <a:latin typeface="Consolas"/>
                  <a:ea typeface="Microsoft YaHei"/>
                  <a:cs typeface="Consolas"/>
                </a:rPr>
                <a:t>codegen.md 2,785 → 4,627 字节 (+66.1%) 备份 .bak.1778178417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54382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主要增量：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5118" y="5609749"/>
              <a:ext cx="4759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• [SCOPE GUARDRAILS] 强制枚举 parent/target/sibling 三组 inode 突变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55118" y="5781199"/>
              <a:ext cx="5770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• LITEOS_DIGEST tombstone 前 VfsHashRemove / parent mtime 刷新 / Phase 2 sample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49" name="Line 49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1022" y="6521291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Case Study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5" grpId="0"/>
      <p:bldP spid="32" grpId="0"/>
      <p:bldP spid="39" grpId="0"/>
      <p:bldP spid="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331470"/>
            <a:ext cx="11079480" cy="497205"/>
            <a:chOff x="541020" y="331470"/>
            <a:chExt cx="11079480" cy="4972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331470"/>
              <a:ext cx="587608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评估 · 生产力 / 测试 / Loop C 反馈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1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52500"/>
            <a:ext cx="11049000" cy="533400"/>
            <a:chOff x="571500" y="952500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DF2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860" y="1156335"/>
              <a:ext cx="6988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三个角度自检 · 数据来自 .specfs-metrics.jsonl 与 .specfs.dag.json (DAG state)。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1809750"/>
            <a:ext cx="3619500" cy="4191000"/>
            <a:chOff x="571500" y="1809750"/>
            <a:chExt cx="3619500" cy="41910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3619500" cy="41910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809750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057400"/>
              <a:ext cx="3619500" cy="2286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2955" y="1968818"/>
              <a:ext cx="831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① 生产力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6765" y="25727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spec / code LOC ratio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9140" y="2777490"/>
              <a:ext cx="1557299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365D"/>
                  </a:solidFill>
                  <a:latin typeface="Georgia"/>
                  <a:ea typeface="Microsoft YaHei"/>
                  <a:cs typeface="Georgia"/>
                </a:rPr>
                <a:t>1.64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89760" y="3166110"/>
              <a:ext cx="1064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9 stage 合计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89760" y="3375660"/>
              <a:ext cx="17480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spec 2114 / code 1290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37338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3906202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论文基线 (AtomFS)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059555"/>
              <a:ext cx="6813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7A7B"/>
                  </a:solidFill>
                  <a:latin typeface="Georgia"/>
                  <a:ea typeface="Microsoft YaHei"/>
                  <a:cs typeface="Georgia"/>
                </a:rPr>
                <a:t>~1.2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91665" y="41729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FAST'26 SYSSPEC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4649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本项目稍高的原因：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4877752"/>
              <a:ext cx="2556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Invariants 多（含跨 stage 继承）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51063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Refine Prompt 二阶段锁状态契约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5334952"/>
              <a:ext cx="22656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System Algorithm 项目级强制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7718" y="5685949"/>
              <a:ext cx="16979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命题成立 — 但更"重 spec"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286250" y="1809750"/>
            <a:ext cx="3772472" cy="4191000"/>
            <a:chOff x="4286250" y="1809750"/>
            <a:chExt cx="3772472" cy="4191000"/>
          </a:xfrm>
        </p:grpSpPr>
        <p:sp>
          <p:nvSpPr>
            <p:cNvPr id="29" name="Rectangle 29"/>
            <p:cNvSpPr/>
            <p:nvPr/>
          </p:nvSpPr>
          <p:spPr>
            <a:xfrm>
              <a:off x="4286250" y="1809750"/>
              <a:ext cx="3619500" cy="41910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86250" y="1809750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2057400"/>
              <a:ext cx="3619500" cy="2286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97705" y="1968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② 测试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1515" y="2572702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Wave A · cmocka host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53890" y="2777490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C7A7B"/>
                  </a:solidFill>
                  <a:latin typeface="Georgia"/>
                  <a:ea typeface="Microsoft YaHei"/>
                  <a:cs typeface="Georgia"/>
                </a:rPr>
                <a:t>49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99760" y="2918460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testpoint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9760" y="3166110"/>
              <a:ext cx="13624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5 helper TU 覆盖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01665" y="3410902"/>
              <a:ext cx="985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~2 s 远端跑完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514850" y="37338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01515" y="390620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Wave B · QEMU LTP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76750" y="40957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C7A7B"/>
                  </a:solidFill>
                  <a:latin typeface="Georgia"/>
                  <a:ea typeface="Microsoft YaHei"/>
                  <a:cs typeface="Georgia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30165" y="4172902"/>
              <a:ext cx="1330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LTP case (smoke)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30165" y="4382452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creat / open / read /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30165" y="45920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write / unlink / stat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01515" y="5011102"/>
              <a:ext cx="1360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Plugin server 测试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84370" y="5189220"/>
              <a:ext cx="57622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7A7B"/>
                  </a:solidFill>
                  <a:latin typeface="Georgia"/>
                  <a:ea typeface="Microsoft YaHei"/>
                  <a:cs typeface="Georgia"/>
                </a:rPr>
                <a:t>194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2565" y="5296852"/>
              <a:ext cx="724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/ 194 全过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02468" y="5685949"/>
              <a:ext cx="35562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covers prompt assembly + MCP + .first + fast_eval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01000" y="1809750"/>
            <a:ext cx="3619500" cy="4191000"/>
            <a:chOff x="8001000" y="1809750"/>
            <a:chExt cx="3619500" cy="4191000"/>
          </a:xfrm>
        </p:grpSpPr>
        <p:sp>
          <p:nvSpPr>
            <p:cNvPr id="49" name="Rectangle 49"/>
            <p:cNvSpPr/>
            <p:nvPr/>
          </p:nvSpPr>
          <p:spPr>
            <a:xfrm>
              <a:off x="8001000" y="1809750"/>
              <a:ext cx="3619500" cy="41910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01000" y="1809750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01000" y="2057400"/>
              <a:ext cx="3619500" cy="2286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12455" y="1968818"/>
              <a:ext cx="22908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③ Loop C 反馈 (v0.5.6)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16265" y="2572702"/>
              <a:ext cx="14835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unlink baseline gaps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68640" y="2777490"/>
              <a:ext cx="52677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C53030"/>
                  </a:solidFill>
                  <a:latin typeface="Georgia"/>
                  <a:ea typeface="Microsoft YaHei"/>
                  <a:cs typeface="Georgia"/>
                </a:rPr>
                <a:t>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33510" y="2918460"/>
              <a:ext cx="20634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总 gap (5 spec + 3 code)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33510" y="3166110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4 高严重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8229600" y="37338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216265" y="39062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累积推荐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16265" y="4172902"/>
              <a:ext cx="2556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spec-side 3 条 · codegen-side 3 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16265" y="443960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apply 后两 prompt 模板 +50% / +66%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229600" y="47625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16265" y="49349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主要 gap 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17218" y="5171599"/>
              <a:ext cx="23601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name-cache eviction 缺失 (high)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17218" y="53430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parent mtime 刷新缺失 (high)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17218" y="5514499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• post-tombstone chain reset (med)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17218" y="56859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2 条 low 不入 sess.failures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61022" y="6381750"/>
            <a:ext cx="11069956" cy="307181"/>
            <a:chOff x="561022" y="6381750"/>
            <a:chExt cx="11069956" cy="307181"/>
          </a:xfrm>
        </p:grpSpPr>
        <p:sp>
          <p:nvSpPr>
            <p:cNvPr id="68" name="Line 68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1022" y="652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Evaluation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48" grpId="0"/>
      <p:bldP spid="6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800850"/>
              <a:ext cx="12192000" cy="5715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57200" y="742950"/>
            <a:ext cx="1746790" cy="1828800"/>
            <a:chOff x="457200" y="742950"/>
            <a:chExt cx="1746790" cy="1828800"/>
          </a:xfrm>
        </p:grpSpPr>
        <p:sp>
          <p:nvSpPr>
            <p:cNvPr id="5" name="TextBox 5"/>
            <p:cNvSpPr txBox="1"/>
            <p:nvPr/>
          </p:nvSpPr>
          <p:spPr>
            <a:xfrm>
              <a:off x="457200" y="742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0" b="1" dirty="0">
                  <a:solidFill>
                    <a:srgbClr val="C53030"/>
                  </a:solidFill>
                  <a:latin typeface="Georgia"/>
                  <a:ea typeface="Microsoft YaHei"/>
                  <a:cs typeface="Georgia"/>
                </a:rPr>
                <a:t>07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965960"/>
              <a:ext cx="13624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PART · SUMMARY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23622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rgbClr val="C5303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33400" y="2724150"/>
            <a:ext cx="6931057" cy="1066800"/>
            <a:chOff x="533400" y="2724150"/>
            <a:chExt cx="6931057" cy="1066800"/>
          </a:xfrm>
        </p:grpSpPr>
        <p:sp>
          <p:nvSpPr>
            <p:cNvPr id="9" name="TextBox 9"/>
            <p:cNvSpPr txBox="1"/>
            <p:nvPr/>
          </p:nvSpPr>
          <p:spPr>
            <a:xfrm>
              <a:off x="533400" y="2724150"/>
              <a:ext cx="693105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spec-first 让 LiteOS-A FS 移植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3400" y="3181350"/>
              <a:ext cx="48147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53030"/>
                  </a:solidFill>
                  <a:latin typeface="Arial"/>
                  <a:ea typeface="Microsoft YaHei"/>
                  <a:cs typeface="Arial"/>
                </a:rPr>
                <a:t>可复用 · 可审 · 可优化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4850" y="4197668"/>
            <a:ext cx="5206603" cy="455294"/>
            <a:chOff x="704850" y="4197668"/>
            <a:chExt cx="5206603" cy="455294"/>
          </a:xfrm>
        </p:grpSpPr>
        <p:sp>
          <p:nvSpPr>
            <p:cNvPr id="12" name="Ellipse 12"/>
            <p:cNvSpPr/>
            <p:nvPr/>
          </p:nvSpPr>
          <p:spPr>
            <a:xfrm>
              <a:off x="704850" y="4229100"/>
              <a:ext cx="114300" cy="114300"/>
            </a:xfrm>
            <a:prstGeom prst="ellipse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5355" y="4197668"/>
              <a:ext cx="29637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SYSSPEC 四段 + Refine Prompt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4439602"/>
              <a:ext cx="49722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剥离 Linux 假设，用真实 LiteOS-A 原语签名表达"做什么"与"怎么做"。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4850" y="4769168"/>
            <a:ext cx="6080712" cy="455294"/>
            <a:chOff x="704850" y="4769168"/>
            <a:chExt cx="6080712" cy="455294"/>
          </a:xfrm>
        </p:grpSpPr>
        <p:sp>
          <p:nvSpPr>
            <p:cNvPr id="16" name="Ellipse 16"/>
            <p:cNvSpPr/>
            <p:nvPr/>
          </p:nvSpPr>
          <p:spPr>
            <a:xfrm>
              <a:off x="704850" y="4800600"/>
              <a:ext cx="114300" cy="114300"/>
            </a:xfrm>
            <a:prstGeom prst="ellipse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476916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Loop spec / Loop code 双闭环 + 七层防御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5011102"/>
              <a:ext cx="5846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LSP / style / SpecEval / build / cmocka / QEMU / 用户终审 — 按 cost fail-fast。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4850" y="5340668"/>
            <a:ext cx="5833791" cy="455294"/>
            <a:chOff x="704850" y="5340668"/>
            <a:chExt cx="5833791" cy="455294"/>
          </a:xfrm>
        </p:grpSpPr>
        <p:sp>
          <p:nvSpPr>
            <p:cNvPr id="20" name="Ellipse 20"/>
            <p:cNvSpPr/>
            <p:nvPr/>
          </p:nvSpPr>
          <p:spPr>
            <a:xfrm>
              <a:off x="704850" y="5372100"/>
              <a:ext cx="114300" cy="114300"/>
            </a:xfrm>
            <a:prstGeom prst="ellipse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5355" y="5340668"/>
              <a:ext cx="56032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DAG · 跨 stage invariant 继承 + common.header 自动同步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165" y="5582602"/>
              <a:ext cx="3362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不重复造轮子；祖先 spec 改 → 后代自动 dirty。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4850" y="5912168"/>
            <a:ext cx="6333744" cy="455294"/>
            <a:chOff x="704850" y="5912168"/>
            <a:chExt cx="6333744" cy="455294"/>
          </a:xfrm>
        </p:grpSpPr>
        <p:sp>
          <p:nvSpPr>
            <p:cNvPr id="24" name="Ellipse 24"/>
            <p:cNvSpPr/>
            <p:nvPr/>
          </p:nvSpPr>
          <p:spPr>
            <a:xfrm>
              <a:off x="704850" y="5943600"/>
              <a:ext cx="114300" cy="114300"/>
            </a:xfrm>
            <a:prstGeom prst="ellipse">
              <a:avLst/>
            </a:prstGeom>
            <a:solidFill>
              <a:srgbClr val="2C7A7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5355" y="5912168"/>
              <a:ext cx="52306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Loop C (v0.5.6) · 用 Linux 比对反向优化 prompt 本身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9165" y="6154102"/>
              <a:ext cx="60994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系统的"提示工程"代替零散的"调参"；测的是 prompt 引导能力 (fast_eval + .first)。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67500" y="4095750"/>
            <a:ext cx="4953000" cy="2095500"/>
            <a:chOff x="6667500" y="4095750"/>
            <a:chExt cx="4953000" cy="2095500"/>
          </a:xfrm>
        </p:grpSpPr>
        <p:sp>
          <p:nvSpPr>
            <p:cNvPr id="28" name="Rectangle 28"/>
            <p:cNvSpPr/>
            <p:nvPr/>
          </p:nvSpPr>
          <p:spPr>
            <a:xfrm>
              <a:off x="6667500" y="409575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38950" y="4257675"/>
              <a:ext cx="9697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Roadmap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58000" y="45339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C5303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44665" y="47444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短期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16165" y="4744402"/>
              <a:ext cx="21275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rmdir · rename · write path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44665" y="50301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中期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16165" y="5030152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第二个 FS 验证迁移性 (ext2 / erofs?)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44665" y="53159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0"/>
                  </a:solidFill>
                  <a:latin typeface="Arial"/>
                  <a:ea typeface="Microsoft YaHei"/>
                  <a:cs typeface="Arial"/>
                </a:rPr>
                <a:t>长期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16165" y="53159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语义近似去重 (embedding_dedup)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16165" y="5525452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fast_eval batch harness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16165" y="57350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AFC"/>
                  </a:solidFill>
                  <a:latin typeface="Arial"/>
                  <a:ea typeface="Microsoft YaHei"/>
                  <a:cs typeface="Arial"/>
                </a:rPr>
                <a:t>DAG dirty propagation 自动化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561022" y="6521291"/>
              <a:ext cx="5330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Summary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  <p:bldP spid="19" grpId="0"/>
      <p:bldP spid="23" grpId="0"/>
      <p:bldP spid="27" grpId="0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00850"/>
              <a:ext cx="12192000" cy="571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182732" y="1889760"/>
            <a:ext cx="3826535" cy="1739265"/>
            <a:chOff x="4182732" y="1889760"/>
            <a:chExt cx="3826535" cy="1739265"/>
          </a:xfrm>
        </p:grpSpPr>
        <p:sp>
          <p:nvSpPr>
            <p:cNvPr id="6" name="TextBox 6"/>
            <p:cNvSpPr txBox="1"/>
            <p:nvPr/>
          </p:nvSpPr>
          <p:spPr>
            <a:xfrm>
              <a:off x="4182732" y="1889760"/>
              <a:ext cx="3826535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1A365D"/>
                  </a:solidFill>
                  <a:latin typeface="Georgia"/>
                  <a:ea typeface="Microsoft YaHei"/>
                  <a:cs typeface="Georgia"/>
                </a:rPr>
                <a:t>Thanks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6133" y="3074670"/>
              <a:ext cx="91973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Q &amp; A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143500" y="3619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rgbClr val="C53030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286000" y="4095750"/>
            <a:ext cx="7620000" cy="1714500"/>
            <a:chOff x="2286000" y="4095750"/>
            <a:chExt cx="76200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2286000" y="4095750"/>
              <a:ext cx="762000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CBD5E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61260" y="4290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参考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63165" y="46110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论文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26118" y="4619149"/>
              <a:ext cx="24740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FAST'26 SYSSPEC · arXiv:2512.13047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63165" y="48777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6118" y="4885849"/>
              <a:ext cx="28086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.claude/plugins/specfs-port/DESIGN.md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3165" y="51444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方法论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6118" y="5152549"/>
              <a:ext cx="4111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.claude/plugins/specfs-port/skills/specfs-port/SKILL.md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3165" y="54111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仓库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6118" y="5419249"/>
              <a:ext cx="40119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feature/spec-port · gitee + github (Fangzhou-Lu/liteos)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21" name="TextBox 21"/>
            <p:cNvSpPr txBox="1"/>
            <p:nvPr/>
          </p:nvSpPr>
          <p:spPr>
            <a:xfrm>
              <a:off x="561022" y="6521291"/>
              <a:ext cx="14909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specfs-port · 2026-05-11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